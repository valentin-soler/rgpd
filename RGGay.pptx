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Montserrat Bold" charset="1" panose="00000800000000000000"/>
      <p:regular r:id="rId14"/>
    </p:embeddedFont>
    <p:embeddedFont>
      <p:font typeface="TT Fors" charset="1" panose="020B0003030001020000"/>
      <p:regular r:id="rId15"/>
    </p:embeddedFont>
    <p:embeddedFont>
      <p:font typeface="TT Fors Bold" charset="1" panose="020B0003030001020000"/>
      <p:regular r:id="rId16"/>
    </p:embeddedFont>
    <p:embeddedFont>
      <p:font typeface="TT Fors Bold Italics" charset="1" panose="020B0003030001020000"/>
      <p:regular r:id="rId17"/>
    </p:embeddedFont>
    <p:embeddedFont>
      <p:font typeface="Poppins Bold" charset="1" panose="000008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7.png" Type="http://schemas.openxmlformats.org/officeDocument/2006/relationships/image"/><Relationship Id="rId7" Target="../embeddings/oleObject1.bin" Type="http://schemas.openxmlformats.org/officeDocument/2006/relationships/oleObjec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9583" y="-233292"/>
            <a:ext cx="21507167" cy="10753583"/>
            <a:chOff x="0" y="0"/>
            <a:chExt cx="28676222" cy="14338111"/>
          </a:xfrm>
        </p:grpSpPr>
        <p:sp>
          <p:nvSpPr>
            <p:cNvPr name="Freeform 3" id="3"/>
            <p:cNvSpPr/>
            <p:nvPr/>
          </p:nvSpPr>
          <p:spPr>
            <a:xfrm flipH="false" flipV="false" rot="0">
              <a:off x="0" y="0"/>
              <a:ext cx="7169056" cy="7169056"/>
            </a:xfrm>
            <a:custGeom>
              <a:avLst/>
              <a:gdLst/>
              <a:ahLst/>
              <a:cxnLst/>
              <a:rect r="r" b="b" t="t" l="l"/>
              <a:pathLst>
                <a:path h="7169056" w="7169056">
                  <a:moveTo>
                    <a:pt x="0" y="0"/>
                  </a:moveTo>
                  <a:lnTo>
                    <a:pt x="7169056" y="0"/>
                  </a:lnTo>
                  <a:lnTo>
                    <a:pt x="7169056"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169056"/>
              <a:ext cx="7169056" cy="7169056"/>
            </a:xfrm>
            <a:custGeom>
              <a:avLst/>
              <a:gdLst/>
              <a:ahLst/>
              <a:cxnLst/>
              <a:rect r="r" b="b" t="t" l="l"/>
              <a:pathLst>
                <a:path h="7169056" w="7169056">
                  <a:moveTo>
                    <a:pt x="0" y="0"/>
                  </a:moveTo>
                  <a:lnTo>
                    <a:pt x="7169056" y="0"/>
                  </a:lnTo>
                  <a:lnTo>
                    <a:pt x="7169056"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7169056" y="0"/>
              <a:ext cx="7169056" cy="7169056"/>
            </a:xfrm>
            <a:custGeom>
              <a:avLst/>
              <a:gdLst/>
              <a:ahLst/>
              <a:cxnLst/>
              <a:rect r="r" b="b" t="t" l="l"/>
              <a:pathLst>
                <a:path h="7169056" w="7169056">
                  <a:moveTo>
                    <a:pt x="0" y="0"/>
                  </a:moveTo>
                  <a:lnTo>
                    <a:pt x="7169055" y="0"/>
                  </a:lnTo>
                  <a:lnTo>
                    <a:pt x="7169055"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169056" y="7169056"/>
              <a:ext cx="7169056" cy="7169056"/>
            </a:xfrm>
            <a:custGeom>
              <a:avLst/>
              <a:gdLst/>
              <a:ahLst/>
              <a:cxnLst/>
              <a:rect r="r" b="b" t="t" l="l"/>
              <a:pathLst>
                <a:path h="7169056" w="7169056">
                  <a:moveTo>
                    <a:pt x="0" y="0"/>
                  </a:moveTo>
                  <a:lnTo>
                    <a:pt x="7169055" y="0"/>
                  </a:lnTo>
                  <a:lnTo>
                    <a:pt x="7169055"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338111" y="0"/>
              <a:ext cx="7169056" cy="7169056"/>
            </a:xfrm>
            <a:custGeom>
              <a:avLst/>
              <a:gdLst/>
              <a:ahLst/>
              <a:cxnLst/>
              <a:rect r="r" b="b" t="t" l="l"/>
              <a:pathLst>
                <a:path h="7169056" w="7169056">
                  <a:moveTo>
                    <a:pt x="0" y="0"/>
                  </a:moveTo>
                  <a:lnTo>
                    <a:pt x="7169056" y="0"/>
                  </a:lnTo>
                  <a:lnTo>
                    <a:pt x="7169056"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4338111" y="7169056"/>
              <a:ext cx="7169056" cy="7169056"/>
            </a:xfrm>
            <a:custGeom>
              <a:avLst/>
              <a:gdLst/>
              <a:ahLst/>
              <a:cxnLst/>
              <a:rect r="r" b="b" t="t" l="l"/>
              <a:pathLst>
                <a:path h="7169056" w="7169056">
                  <a:moveTo>
                    <a:pt x="0" y="0"/>
                  </a:moveTo>
                  <a:lnTo>
                    <a:pt x="7169056" y="0"/>
                  </a:lnTo>
                  <a:lnTo>
                    <a:pt x="7169056"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507167" y="0"/>
              <a:ext cx="7169056" cy="7169056"/>
            </a:xfrm>
            <a:custGeom>
              <a:avLst/>
              <a:gdLst/>
              <a:ahLst/>
              <a:cxnLst/>
              <a:rect r="r" b="b" t="t" l="l"/>
              <a:pathLst>
                <a:path h="7169056" w="7169056">
                  <a:moveTo>
                    <a:pt x="0" y="0"/>
                  </a:moveTo>
                  <a:lnTo>
                    <a:pt x="7169055" y="0"/>
                  </a:lnTo>
                  <a:lnTo>
                    <a:pt x="7169055"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1507167" y="7169056"/>
              <a:ext cx="7169056" cy="7169056"/>
            </a:xfrm>
            <a:custGeom>
              <a:avLst/>
              <a:gdLst/>
              <a:ahLst/>
              <a:cxnLst/>
              <a:rect r="r" b="b" t="t" l="l"/>
              <a:pathLst>
                <a:path h="7169056" w="7169056">
                  <a:moveTo>
                    <a:pt x="0" y="0"/>
                  </a:moveTo>
                  <a:lnTo>
                    <a:pt x="7169055" y="0"/>
                  </a:lnTo>
                  <a:lnTo>
                    <a:pt x="7169055"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0" y="7278866"/>
            <a:ext cx="18288000" cy="3008134"/>
            <a:chOff x="0" y="0"/>
            <a:chExt cx="4816593" cy="792266"/>
          </a:xfrm>
        </p:grpSpPr>
        <p:sp>
          <p:nvSpPr>
            <p:cNvPr name="Freeform 12" id="12"/>
            <p:cNvSpPr/>
            <p:nvPr/>
          </p:nvSpPr>
          <p:spPr>
            <a:xfrm flipH="false" flipV="false" rot="0">
              <a:off x="0" y="0"/>
              <a:ext cx="4816592" cy="792266"/>
            </a:xfrm>
            <a:custGeom>
              <a:avLst/>
              <a:gdLst/>
              <a:ahLst/>
              <a:cxnLst/>
              <a:rect r="r" b="b" t="t" l="l"/>
              <a:pathLst>
                <a:path h="792266" w="4816592">
                  <a:moveTo>
                    <a:pt x="0" y="0"/>
                  </a:moveTo>
                  <a:lnTo>
                    <a:pt x="4816592" y="0"/>
                  </a:lnTo>
                  <a:lnTo>
                    <a:pt x="4816592" y="792266"/>
                  </a:lnTo>
                  <a:lnTo>
                    <a:pt x="0" y="792266"/>
                  </a:lnTo>
                  <a:close/>
                </a:path>
              </a:pathLst>
            </a:custGeom>
            <a:solidFill>
              <a:srgbClr val="5284FF"/>
            </a:solidFill>
          </p:spPr>
        </p:sp>
        <p:sp>
          <p:nvSpPr>
            <p:cNvPr name="TextBox 13" id="13"/>
            <p:cNvSpPr txBox="true"/>
            <p:nvPr/>
          </p:nvSpPr>
          <p:spPr>
            <a:xfrm>
              <a:off x="0" y="-38100"/>
              <a:ext cx="4816593" cy="830366"/>
            </a:xfrm>
            <a:prstGeom prst="rect">
              <a:avLst/>
            </a:prstGeom>
          </p:spPr>
          <p:txBody>
            <a:bodyPr anchor="ctr" rtlCol="false" tIns="50800" lIns="50800" bIns="50800" rIns="50800"/>
            <a:lstStyle/>
            <a:p>
              <a:pPr algn="ctr">
                <a:lnSpc>
                  <a:spcPts val="2240"/>
                </a:lnSpc>
              </a:pPr>
            </a:p>
          </p:txBody>
        </p:sp>
      </p:grpSp>
      <p:sp>
        <p:nvSpPr>
          <p:cNvPr name="Freeform 14" id="14"/>
          <p:cNvSpPr/>
          <p:nvPr/>
        </p:nvSpPr>
        <p:spPr>
          <a:xfrm flipH="false" flipV="false" rot="0">
            <a:off x="12152042" y="1124553"/>
            <a:ext cx="6935946" cy="8850975"/>
          </a:xfrm>
          <a:custGeom>
            <a:avLst/>
            <a:gdLst/>
            <a:ahLst/>
            <a:cxnLst/>
            <a:rect r="r" b="b" t="t" l="l"/>
            <a:pathLst>
              <a:path h="8850975" w="6935946">
                <a:moveTo>
                  <a:pt x="0" y="0"/>
                </a:moveTo>
                <a:lnTo>
                  <a:pt x="6935945" y="0"/>
                </a:lnTo>
                <a:lnTo>
                  <a:pt x="6935945" y="8850975"/>
                </a:lnTo>
                <a:lnTo>
                  <a:pt x="0" y="8850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10085204" y="7465436"/>
            <a:ext cx="5884917" cy="3787747"/>
          </a:xfrm>
          <a:custGeom>
            <a:avLst/>
            <a:gdLst/>
            <a:ahLst/>
            <a:cxnLst/>
            <a:rect r="r" b="b" t="t" l="l"/>
            <a:pathLst>
              <a:path h="3787747" w="5884917">
                <a:moveTo>
                  <a:pt x="0" y="0"/>
                </a:moveTo>
                <a:lnTo>
                  <a:pt x="5884917" y="0"/>
                </a:lnTo>
                <a:lnTo>
                  <a:pt x="5884917" y="3787747"/>
                </a:lnTo>
                <a:lnTo>
                  <a:pt x="0" y="378774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15274457" y="574006"/>
            <a:ext cx="1984843" cy="579122"/>
            <a:chOff x="0" y="0"/>
            <a:chExt cx="1392868" cy="406400"/>
          </a:xfrm>
        </p:grpSpPr>
        <p:sp>
          <p:nvSpPr>
            <p:cNvPr name="Freeform 17" id="17"/>
            <p:cNvSpPr/>
            <p:nvPr/>
          </p:nvSpPr>
          <p:spPr>
            <a:xfrm flipH="false" flipV="false" rot="0">
              <a:off x="0" y="0"/>
              <a:ext cx="1392868" cy="406400"/>
            </a:xfrm>
            <a:custGeom>
              <a:avLst/>
              <a:gdLst/>
              <a:ahLst/>
              <a:cxnLst/>
              <a:rect r="r" b="b" t="t" l="l"/>
              <a:pathLst>
                <a:path h="406400" w="1392868">
                  <a:moveTo>
                    <a:pt x="1189668" y="0"/>
                  </a:moveTo>
                  <a:cubicBezTo>
                    <a:pt x="1301892" y="0"/>
                    <a:pt x="1392868" y="90976"/>
                    <a:pt x="1392868" y="203200"/>
                  </a:cubicBezTo>
                  <a:cubicBezTo>
                    <a:pt x="1392868" y="315424"/>
                    <a:pt x="1301892" y="406400"/>
                    <a:pt x="1189668" y="406400"/>
                  </a:cubicBezTo>
                  <a:lnTo>
                    <a:pt x="203200" y="406400"/>
                  </a:lnTo>
                  <a:cubicBezTo>
                    <a:pt x="90976" y="406400"/>
                    <a:pt x="0" y="315424"/>
                    <a:pt x="0" y="203200"/>
                  </a:cubicBezTo>
                  <a:cubicBezTo>
                    <a:pt x="0" y="90976"/>
                    <a:pt x="90976" y="0"/>
                    <a:pt x="203200" y="0"/>
                  </a:cubicBezTo>
                  <a:close/>
                </a:path>
              </a:pathLst>
            </a:custGeom>
            <a:solidFill>
              <a:srgbClr val="5284FF"/>
            </a:solidFill>
          </p:spPr>
        </p:sp>
        <p:sp>
          <p:nvSpPr>
            <p:cNvPr name="TextBox 18" id="18"/>
            <p:cNvSpPr txBox="true"/>
            <p:nvPr/>
          </p:nvSpPr>
          <p:spPr>
            <a:xfrm>
              <a:off x="0" y="-38100"/>
              <a:ext cx="1392868" cy="444500"/>
            </a:xfrm>
            <a:prstGeom prst="rect">
              <a:avLst/>
            </a:prstGeom>
          </p:spPr>
          <p:txBody>
            <a:bodyPr anchor="ctr" rtlCol="false" tIns="50800" lIns="50800" bIns="50800" rIns="50800"/>
            <a:lstStyle/>
            <a:p>
              <a:pPr algn="ctr">
                <a:lnSpc>
                  <a:spcPts val="2240"/>
                </a:lnSpc>
              </a:pPr>
            </a:p>
          </p:txBody>
        </p:sp>
      </p:grpSp>
      <p:sp>
        <p:nvSpPr>
          <p:cNvPr name="Freeform 19" id="19"/>
          <p:cNvSpPr/>
          <p:nvPr/>
        </p:nvSpPr>
        <p:spPr>
          <a:xfrm flipH="false" flipV="false" rot="0">
            <a:off x="16577728" y="729265"/>
            <a:ext cx="467394" cy="267690"/>
          </a:xfrm>
          <a:custGeom>
            <a:avLst/>
            <a:gdLst/>
            <a:ahLst/>
            <a:cxnLst/>
            <a:rect r="r" b="b" t="t" l="l"/>
            <a:pathLst>
              <a:path h="267690" w="467394">
                <a:moveTo>
                  <a:pt x="0" y="0"/>
                </a:moveTo>
                <a:lnTo>
                  <a:pt x="467395" y="0"/>
                </a:lnTo>
                <a:lnTo>
                  <a:pt x="467395" y="267689"/>
                </a:lnTo>
                <a:lnTo>
                  <a:pt x="0" y="26768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0" id="20"/>
          <p:cNvGrpSpPr/>
          <p:nvPr/>
        </p:nvGrpSpPr>
        <p:grpSpPr>
          <a:xfrm rot="0">
            <a:off x="-524051" y="5879223"/>
            <a:ext cx="11035814" cy="818488"/>
            <a:chOff x="0" y="0"/>
            <a:chExt cx="5479563" cy="406400"/>
          </a:xfrm>
        </p:grpSpPr>
        <p:sp>
          <p:nvSpPr>
            <p:cNvPr name="Freeform 21" id="21"/>
            <p:cNvSpPr/>
            <p:nvPr/>
          </p:nvSpPr>
          <p:spPr>
            <a:xfrm flipH="false" flipV="false" rot="0">
              <a:off x="0" y="0"/>
              <a:ext cx="5479562" cy="406400"/>
            </a:xfrm>
            <a:custGeom>
              <a:avLst/>
              <a:gdLst/>
              <a:ahLst/>
              <a:cxnLst/>
              <a:rect r="r" b="b" t="t" l="l"/>
              <a:pathLst>
                <a:path h="406400" w="5479562">
                  <a:moveTo>
                    <a:pt x="5276362" y="0"/>
                  </a:moveTo>
                  <a:cubicBezTo>
                    <a:pt x="5388587" y="0"/>
                    <a:pt x="5479562" y="90976"/>
                    <a:pt x="5479562" y="203200"/>
                  </a:cubicBezTo>
                  <a:cubicBezTo>
                    <a:pt x="5479562" y="315424"/>
                    <a:pt x="5388587" y="406400"/>
                    <a:pt x="5276362" y="406400"/>
                  </a:cubicBezTo>
                  <a:lnTo>
                    <a:pt x="203200" y="406400"/>
                  </a:lnTo>
                  <a:cubicBezTo>
                    <a:pt x="90976" y="406400"/>
                    <a:pt x="0" y="315424"/>
                    <a:pt x="0" y="203200"/>
                  </a:cubicBezTo>
                  <a:cubicBezTo>
                    <a:pt x="0" y="90976"/>
                    <a:pt x="90976" y="0"/>
                    <a:pt x="203200" y="0"/>
                  </a:cubicBezTo>
                  <a:close/>
                </a:path>
              </a:pathLst>
            </a:custGeom>
            <a:solidFill>
              <a:srgbClr val="C2DCFF"/>
            </a:solidFill>
          </p:spPr>
        </p:sp>
        <p:sp>
          <p:nvSpPr>
            <p:cNvPr name="TextBox 22" id="22"/>
            <p:cNvSpPr txBox="true"/>
            <p:nvPr/>
          </p:nvSpPr>
          <p:spPr>
            <a:xfrm>
              <a:off x="0" y="-38100"/>
              <a:ext cx="5479563" cy="444500"/>
            </a:xfrm>
            <a:prstGeom prst="rect">
              <a:avLst/>
            </a:prstGeom>
          </p:spPr>
          <p:txBody>
            <a:bodyPr anchor="ctr" rtlCol="false" tIns="50800" lIns="50800" bIns="50800" rIns="50800"/>
            <a:lstStyle/>
            <a:p>
              <a:pPr algn="ctr">
                <a:lnSpc>
                  <a:spcPts val="2240"/>
                </a:lnSpc>
              </a:pPr>
            </a:p>
          </p:txBody>
        </p:sp>
      </p:grpSp>
      <p:sp>
        <p:nvSpPr>
          <p:cNvPr name="Freeform 23" id="23"/>
          <p:cNvSpPr/>
          <p:nvPr/>
        </p:nvSpPr>
        <p:spPr>
          <a:xfrm flipH="false" flipV="false" rot="0">
            <a:off x="1360788" y="0"/>
            <a:ext cx="3894507" cy="3894507"/>
          </a:xfrm>
          <a:custGeom>
            <a:avLst/>
            <a:gdLst/>
            <a:ahLst/>
            <a:cxnLst/>
            <a:rect r="r" b="b" t="t" l="l"/>
            <a:pathLst>
              <a:path h="3894507" w="3894507">
                <a:moveTo>
                  <a:pt x="0" y="0"/>
                </a:moveTo>
                <a:lnTo>
                  <a:pt x="3894507" y="0"/>
                </a:lnTo>
                <a:lnTo>
                  <a:pt x="3894507" y="3894507"/>
                </a:lnTo>
                <a:lnTo>
                  <a:pt x="0" y="3894507"/>
                </a:lnTo>
                <a:lnTo>
                  <a:pt x="0" y="0"/>
                </a:lnTo>
                <a:close/>
              </a:path>
            </a:pathLst>
          </a:custGeom>
          <a:blipFill>
            <a:blip r:embed="rId10"/>
            <a:stretch>
              <a:fillRect l="0" t="0" r="0" b="0"/>
            </a:stretch>
          </a:blipFill>
        </p:spPr>
      </p:sp>
      <p:sp>
        <p:nvSpPr>
          <p:cNvPr name="TextBox 24" id="24"/>
          <p:cNvSpPr txBox="true"/>
          <p:nvPr/>
        </p:nvSpPr>
        <p:spPr>
          <a:xfrm rot="0">
            <a:off x="1028700" y="3934343"/>
            <a:ext cx="11227749" cy="1728873"/>
          </a:xfrm>
          <a:prstGeom prst="rect">
            <a:avLst/>
          </a:prstGeom>
        </p:spPr>
        <p:txBody>
          <a:bodyPr anchor="t" rtlCol="false" tIns="0" lIns="0" bIns="0" rIns="0">
            <a:spAutoFit/>
          </a:bodyPr>
          <a:lstStyle/>
          <a:p>
            <a:pPr algn="l">
              <a:lnSpc>
                <a:spcPts val="12912"/>
              </a:lnSpc>
            </a:pPr>
            <a:r>
              <a:rPr lang="en-US" b="true" sz="12912" spc="-387">
                <a:solidFill>
                  <a:srgbClr val="5284FF"/>
                </a:solidFill>
                <a:latin typeface="Montserrat Bold"/>
                <a:ea typeface="Montserrat Bold"/>
                <a:cs typeface="Montserrat Bold"/>
                <a:sym typeface="Montserrat Bold"/>
              </a:rPr>
              <a:t>RGPD</a:t>
            </a:r>
          </a:p>
        </p:txBody>
      </p:sp>
      <p:sp>
        <p:nvSpPr>
          <p:cNvPr name="TextBox 25" id="25"/>
          <p:cNvSpPr txBox="true"/>
          <p:nvPr/>
        </p:nvSpPr>
        <p:spPr>
          <a:xfrm rot="0">
            <a:off x="1028700" y="6127812"/>
            <a:ext cx="10961773" cy="378460"/>
          </a:xfrm>
          <a:prstGeom prst="rect">
            <a:avLst/>
          </a:prstGeom>
        </p:spPr>
        <p:txBody>
          <a:bodyPr anchor="t" rtlCol="false" tIns="0" lIns="0" bIns="0" rIns="0">
            <a:spAutoFit/>
          </a:bodyPr>
          <a:lstStyle/>
          <a:p>
            <a:pPr algn="l">
              <a:lnSpc>
                <a:spcPts val="2900"/>
              </a:lnSpc>
            </a:pPr>
            <a:r>
              <a:rPr lang="en-US" sz="2900" spc="-87" b="true">
                <a:solidFill>
                  <a:srgbClr val="000000"/>
                </a:solidFill>
                <a:latin typeface="Montserrat Bold"/>
                <a:ea typeface="Montserrat Bold"/>
                <a:cs typeface="Montserrat Bold"/>
                <a:sym typeface="Montserrat Bold"/>
              </a:rPr>
              <a:t>Reglement général sur la protection des données</a:t>
            </a:r>
          </a:p>
        </p:txBody>
      </p:sp>
      <p:sp>
        <p:nvSpPr>
          <p:cNvPr name="TextBox 26" id="26"/>
          <p:cNvSpPr txBox="true"/>
          <p:nvPr/>
        </p:nvSpPr>
        <p:spPr>
          <a:xfrm rot="0">
            <a:off x="1028700" y="8307027"/>
            <a:ext cx="2888854" cy="366395"/>
          </a:xfrm>
          <a:prstGeom prst="rect">
            <a:avLst/>
          </a:prstGeom>
        </p:spPr>
        <p:txBody>
          <a:bodyPr anchor="t" rtlCol="false" tIns="0" lIns="0" bIns="0" rIns="0">
            <a:spAutoFit/>
          </a:bodyPr>
          <a:lstStyle/>
          <a:p>
            <a:pPr algn="l">
              <a:lnSpc>
                <a:spcPts val="2799"/>
              </a:lnSpc>
            </a:pPr>
            <a:r>
              <a:rPr lang="en-US" sz="2799" spc="-83">
                <a:solidFill>
                  <a:srgbClr val="FFFFFF"/>
                </a:solidFill>
                <a:latin typeface="TT Fors"/>
                <a:ea typeface="TT Fors"/>
                <a:cs typeface="TT Fors"/>
                <a:sym typeface="TT Fors"/>
              </a:rPr>
              <a:t>Présenté par</a:t>
            </a:r>
          </a:p>
        </p:txBody>
      </p:sp>
      <p:sp>
        <p:nvSpPr>
          <p:cNvPr name="TextBox 27" id="27"/>
          <p:cNvSpPr txBox="true"/>
          <p:nvPr/>
        </p:nvSpPr>
        <p:spPr>
          <a:xfrm rot="0">
            <a:off x="1028700" y="8834120"/>
            <a:ext cx="4558683" cy="824230"/>
          </a:xfrm>
          <a:prstGeom prst="rect">
            <a:avLst/>
          </a:prstGeom>
        </p:spPr>
        <p:txBody>
          <a:bodyPr anchor="t" rtlCol="false" tIns="0" lIns="0" bIns="0" rIns="0">
            <a:spAutoFit/>
          </a:bodyPr>
          <a:lstStyle/>
          <a:p>
            <a:pPr algn="l">
              <a:lnSpc>
                <a:spcPts val="3200"/>
              </a:lnSpc>
            </a:pPr>
            <a:r>
              <a:rPr lang="en-US" sz="3200" spc="-96" b="true">
                <a:solidFill>
                  <a:srgbClr val="FFFFFF"/>
                </a:solidFill>
                <a:latin typeface="TT Fors Bold"/>
                <a:ea typeface="TT Fors Bold"/>
                <a:cs typeface="TT Fors Bold"/>
                <a:sym typeface="TT Fors Bold"/>
              </a:rPr>
              <a:t>Lucas, Wasim &amp; Valentin</a:t>
            </a:r>
          </a:p>
        </p:txBody>
      </p:sp>
      <p:sp>
        <p:nvSpPr>
          <p:cNvPr name="TextBox 28" id="28"/>
          <p:cNvSpPr txBox="true"/>
          <p:nvPr/>
        </p:nvSpPr>
        <p:spPr>
          <a:xfrm rot="0">
            <a:off x="5798377" y="8307027"/>
            <a:ext cx="2888854" cy="366395"/>
          </a:xfrm>
          <a:prstGeom prst="rect">
            <a:avLst/>
          </a:prstGeom>
        </p:spPr>
        <p:txBody>
          <a:bodyPr anchor="t" rtlCol="false" tIns="0" lIns="0" bIns="0" rIns="0">
            <a:spAutoFit/>
          </a:bodyPr>
          <a:lstStyle/>
          <a:p>
            <a:pPr algn="l">
              <a:lnSpc>
                <a:spcPts val="2799"/>
              </a:lnSpc>
            </a:pPr>
            <a:r>
              <a:rPr lang="en-US" sz="2799" spc="-83">
                <a:solidFill>
                  <a:srgbClr val="FFFFFF"/>
                </a:solidFill>
                <a:latin typeface="TT Fors"/>
                <a:ea typeface="TT Fors"/>
                <a:cs typeface="TT Fors"/>
                <a:sym typeface="TT Fors"/>
              </a:rPr>
              <a:t>Date</a:t>
            </a:r>
          </a:p>
        </p:txBody>
      </p:sp>
      <p:sp>
        <p:nvSpPr>
          <p:cNvPr name="TextBox 29" id="29"/>
          <p:cNvSpPr txBox="true"/>
          <p:nvPr/>
        </p:nvSpPr>
        <p:spPr>
          <a:xfrm rot="0">
            <a:off x="5798377" y="8834120"/>
            <a:ext cx="4558683" cy="424180"/>
          </a:xfrm>
          <a:prstGeom prst="rect">
            <a:avLst/>
          </a:prstGeom>
        </p:spPr>
        <p:txBody>
          <a:bodyPr anchor="t" rtlCol="false" tIns="0" lIns="0" bIns="0" rIns="0">
            <a:spAutoFit/>
          </a:bodyPr>
          <a:lstStyle/>
          <a:p>
            <a:pPr algn="l">
              <a:lnSpc>
                <a:spcPts val="3200"/>
              </a:lnSpc>
            </a:pPr>
            <a:r>
              <a:rPr lang="en-US" sz="3200" spc="-96" b="true">
                <a:solidFill>
                  <a:srgbClr val="FFFFFF"/>
                </a:solidFill>
                <a:latin typeface="TT Fors Bold"/>
                <a:ea typeface="TT Fors Bold"/>
                <a:cs typeface="TT Fors Bold"/>
                <a:sym typeface="TT Fors Bold"/>
              </a:rPr>
              <a:t>04/09/2026</a:t>
            </a:r>
          </a:p>
        </p:txBody>
      </p:sp>
      <p:sp>
        <p:nvSpPr>
          <p:cNvPr name="TextBox 30" id="30"/>
          <p:cNvSpPr txBox="true"/>
          <p:nvPr/>
        </p:nvSpPr>
        <p:spPr>
          <a:xfrm rot="0">
            <a:off x="15615098" y="707675"/>
            <a:ext cx="943167" cy="273685"/>
          </a:xfrm>
          <a:prstGeom prst="rect">
            <a:avLst/>
          </a:prstGeom>
        </p:spPr>
        <p:txBody>
          <a:bodyPr anchor="t" rtlCol="false" tIns="0" lIns="0" bIns="0" rIns="0">
            <a:spAutoFit/>
          </a:bodyPr>
          <a:lstStyle/>
          <a:p>
            <a:pPr algn="l">
              <a:lnSpc>
                <a:spcPts val="2240"/>
              </a:lnSpc>
            </a:pPr>
            <a:r>
              <a:rPr lang="en-US" sz="1600" b="true">
                <a:solidFill>
                  <a:srgbClr val="FFFFFF"/>
                </a:solidFill>
                <a:latin typeface="TT Fors Bold"/>
                <a:ea typeface="TT Fors Bold"/>
                <a:cs typeface="TT Fors Bold"/>
                <a:sym typeface="TT Fors Bold"/>
              </a:rPr>
              <a:t>Slide 01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9583" y="-233292"/>
            <a:ext cx="21507167" cy="10753583"/>
            <a:chOff x="0" y="0"/>
            <a:chExt cx="28676222" cy="14338111"/>
          </a:xfrm>
        </p:grpSpPr>
        <p:sp>
          <p:nvSpPr>
            <p:cNvPr name="Freeform 3" id="3"/>
            <p:cNvSpPr/>
            <p:nvPr/>
          </p:nvSpPr>
          <p:spPr>
            <a:xfrm flipH="false" flipV="false" rot="0">
              <a:off x="0" y="0"/>
              <a:ext cx="7169056" cy="7169056"/>
            </a:xfrm>
            <a:custGeom>
              <a:avLst/>
              <a:gdLst/>
              <a:ahLst/>
              <a:cxnLst/>
              <a:rect r="r" b="b" t="t" l="l"/>
              <a:pathLst>
                <a:path h="7169056" w="7169056">
                  <a:moveTo>
                    <a:pt x="0" y="0"/>
                  </a:moveTo>
                  <a:lnTo>
                    <a:pt x="7169056" y="0"/>
                  </a:lnTo>
                  <a:lnTo>
                    <a:pt x="7169056"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169056"/>
              <a:ext cx="7169056" cy="7169056"/>
            </a:xfrm>
            <a:custGeom>
              <a:avLst/>
              <a:gdLst/>
              <a:ahLst/>
              <a:cxnLst/>
              <a:rect r="r" b="b" t="t" l="l"/>
              <a:pathLst>
                <a:path h="7169056" w="7169056">
                  <a:moveTo>
                    <a:pt x="0" y="0"/>
                  </a:moveTo>
                  <a:lnTo>
                    <a:pt x="7169056" y="0"/>
                  </a:lnTo>
                  <a:lnTo>
                    <a:pt x="7169056"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7169056" y="0"/>
              <a:ext cx="7169056" cy="7169056"/>
            </a:xfrm>
            <a:custGeom>
              <a:avLst/>
              <a:gdLst/>
              <a:ahLst/>
              <a:cxnLst/>
              <a:rect r="r" b="b" t="t" l="l"/>
              <a:pathLst>
                <a:path h="7169056" w="7169056">
                  <a:moveTo>
                    <a:pt x="0" y="0"/>
                  </a:moveTo>
                  <a:lnTo>
                    <a:pt x="7169055" y="0"/>
                  </a:lnTo>
                  <a:lnTo>
                    <a:pt x="7169055"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169056" y="7169056"/>
              <a:ext cx="7169056" cy="7169056"/>
            </a:xfrm>
            <a:custGeom>
              <a:avLst/>
              <a:gdLst/>
              <a:ahLst/>
              <a:cxnLst/>
              <a:rect r="r" b="b" t="t" l="l"/>
              <a:pathLst>
                <a:path h="7169056" w="7169056">
                  <a:moveTo>
                    <a:pt x="0" y="0"/>
                  </a:moveTo>
                  <a:lnTo>
                    <a:pt x="7169055" y="0"/>
                  </a:lnTo>
                  <a:lnTo>
                    <a:pt x="7169055"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338111" y="0"/>
              <a:ext cx="7169056" cy="7169056"/>
            </a:xfrm>
            <a:custGeom>
              <a:avLst/>
              <a:gdLst/>
              <a:ahLst/>
              <a:cxnLst/>
              <a:rect r="r" b="b" t="t" l="l"/>
              <a:pathLst>
                <a:path h="7169056" w="7169056">
                  <a:moveTo>
                    <a:pt x="0" y="0"/>
                  </a:moveTo>
                  <a:lnTo>
                    <a:pt x="7169056" y="0"/>
                  </a:lnTo>
                  <a:lnTo>
                    <a:pt x="7169056"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4338111" y="7169056"/>
              <a:ext cx="7169056" cy="7169056"/>
            </a:xfrm>
            <a:custGeom>
              <a:avLst/>
              <a:gdLst/>
              <a:ahLst/>
              <a:cxnLst/>
              <a:rect r="r" b="b" t="t" l="l"/>
              <a:pathLst>
                <a:path h="7169056" w="7169056">
                  <a:moveTo>
                    <a:pt x="0" y="0"/>
                  </a:moveTo>
                  <a:lnTo>
                    <a:pt x="7169056" y="0"/>
                  </a:lnTo>
                  <a:lnTo>
                    <a:pt x="7169056"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507167" y="0"/>
              <a:ext cx="7169056" cy="7169056"/>
            </a:xfrm>
            <a:custGeom>
              <a:avLst/>
              <a:gdLst/>
              <a:ahLst/>
              <a:cxnLst/>
              <a:rect r="r" b="b" t="t" l="l"/>
              <a:pathLst>
                <a:path h="7169056" w="7169056">
                  <a:moveTo>
                    <a:pt x="0" y="0"/>
                  </a:moveTo>
                  <a:lnTo>
                    <a:pt x="7169055" y="0"/>
                  </a:lnTo>
                  <a:lnTo>
                    <a:pt x="7169055"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1507167" y="7169056"/>
              <a:ext cx="7169056" cy="7169056"/>
            </a:xfrm>
            <a:custGeom>
              <a:avLst/>
              <a:gdLst/>
              <a:ahLst/>
              <a:cxnLst/>
              <a:rect r="r" b="b" t="t" l="l"/>
              <a:pathLst>
                <a:path h="7169056" w="7169056">
                  <a:moveTo>
                    <a:pt x="0" y="0"/>
                  </a:moveTo>
                  <a:lnTo>
                    <a:pt x="7169055" y="0"/>
                  </a:lnTo>
                  <a:lnTo>
                    <a:pt x="7169055"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0" y="7278866"/>
            <a:ext cx="18288000" cy="3008134"/>
            <a:chOff x="0" y="0"/>
            <a:chExt cx="4816593" cy="792266"/>
          </a:xfrm>
        </p:grpSpPr>
        <p:sp>
          <p:nvSpPr>
            <p:cNvPr name="Freeform 12" id="12"/>
            <p:cNvSpPr/>
            <p:nvPr/>
          </p:nvSpPr>
          <p:spPr>
            <a:xfrm flipH="false" flipV="false" rot="0">
              <a:off x="0" y="0"/>
              <a:ext cx="4816592" cy="792266"/>
            </a:xfrm>
            <a:custGeom>
              <a:avLst/>
              <a:gdLst/>
              <a:ahLst/>
              <a:cxnLst/>
              <a:rect r="r" b="b" t="t" l="l"/>
              <a:pathLst>
                <a:path h="792266" w="4816592">
                  <a:moveTo>
                    <a:pt x="0" y="0"/>
                  </a:moveTo>
                  <a:lnTo>
                    <a:pt x="4816592" y="0"/>
                  </a:lnTo>
                  <a:lnTo>
                    <a:pt x="4816592" y="792266"/>
                  </a:lnTo>
                  <a:lnTo>
                    <a:pt x="0" y="792266"/>
                  </a:lnTo>
                  <a:close/>
                </a:path>
              </a:pathLst>
            </a:custGeom>
            <a:solidFill>
              <a:srgbClr val="5284FF"/>
            </a:solidFill>
          </p:spPr>
        </p:sp>
        <p:sp>
          <p:nvSpPr>
            <p:cNvPr name="TextBox 13" id="13"/>
            <p:cNvSpPr txBox="true"/>
            <p:nvPr/>
          </p:nvSpPr>
          <p:spPr>
            <a:xfrm>
              <a:off x="0" y="-38100"/>
              <a:ext cx="4816593" cy="830366"/>
            </a:xfrm>
            <a:prstGeom prst="rect">
              <a:avLst/>
            </a:prstGeom>
          </p:spPr>
          <p:txBody>
            <a:bodyPr anchor="ctr" rtlCol="false" tIns="50800" lIns="50800" bIns="50800" rIns="50800"/>
            <a:lstStyle/>
            <a:p>
              <a:pPr algn="ctr">
                <a:lnSpc>
                  <a:spcPts val="2240"/>
                </a:lnSpc>
              </a:pPr>
            </a:p>
          </p:txBody>
        </p:sp>
      </p:grpSp>
      <p:grpSp>
        <p:nvGrpSpPr>
          <p:cNvPr name="Group 14" id="14"/>
          <p:cNvGrpSpPr/>
          <p:nvPr/>
        </p:nvGrpSpPr>
        <p:grpSpPr>
          <a:xfrm rot="0">
            <a:off x="15274457" y="574006"/>
            <a:ext cx="1984843" cy="579122"/>
            <a:chOff x="0" y="0"/>
            <a:chExt cx="1392868" cy="406400"/>
          </a:xfrm>
        </p:grpSpPr>
        <p:sp>
          <p:nvSpPr>
            <p:cNvPr name="Freeform 15" id="15"/>
            <p:cNvSpPr/>
            <p:nvPr/>
          </p:nvSpPr>
          <p:spPr>
            <a:xfrm flipH="false" flipV="false" rot="0">
              <a:off x="0" y="0"/>
              <a:ext cx="1392868" cy="406400"/>
            </a:xfrm>
            <a:custGeom>
              <a:avLst/>
              <a:gdLst/>
              <a:ahLst/>
              <a:cxnLst/>
              <a:rect r="r" b="b" t="t" l="l"/>
              <a:pathLst>
                <a:path h="406400" w="1392868">
                  <a:moveTo>
                    <a:pt x="1189668" y="0"/>
                  </a:moveTo>
                  <a:cubicBezTo>
                    <a:pt x="1301892" y="0"/>
                    <a:pt x="1392868" y="90976"/>
                    <a:pt x="1392868" y="203200"/>
                  </a:cubicBezTo>
                  <a:cubicBezTo>
                    <a:pt x="1392868" y="315424"/>
                    <a:pt x="1301892" y="406400"/>
                    <a:pt x="1189668" y="406400"/>
                  </a:cubicBezTo>
                  <a:lnTo>
                    <a:pt x="203200" y="406400"/>
                  </a:lnTo>
                  <a:cubicBezTo>
                    <a:pt x="90976" y="406400"/>
                    <a:pt x="0" y="315424"/>
                    <a:pt x="0" y="203200"/>
                  </a:cubicBezTo>
                  <a:cubicBezTo>
                    <a:pt x="0" y="90976"/>
                    <a:pt x="90976" y="0"/>
                    <a:pt x="203200" y="0"/>
                  </a:cubicBezTo>
                  <a:close/>
                </a:path>
              </a:pathLst>
            </a:custGeom>
            <a:solidFill>
              <a:srgbClr val="5284FF"/>
            </a:solidFill>
          </p:spPr>
        </p:sp>
        <p:sp>
          <p:nvSpPr>
            <p:cNvPr name="TextBox 16" id="16"/>
            <p:cNvSpPr txBox="true"/>
            <p:nvPr/>
          </p:nvSpPr>
          <p:spPr>
            <a:xfrm>
              <a:off x="0" y="-38100"/>
              <a:ext cx="1392868" cy="444500"/>
            </a:xfrm>
            <a:prstGeom prst="rect">
              <a:avLst/>
            </a:prstGeom>
          </p:spPr>
          <p:txBody>
            <a:bodyPr anchor="ctr" rtlCol="false" tIns="50800" lIns="50800" bIns="50800" rIns="50800"/>
            <a:lstStyle/>
            <a:p>
              <a:pPr algn="ctr">
                <a:lnSpc>
                  <a:spcPts val="2240"/>
                </a:lnSpc>
              </a:pPr>
            </a:p>
          </p:txBody>
        </p:sp>
      </p:grpSp>
      <p:sp>
        <p:nvSpPr>
          <p:cNvPr name="Freeform 17" id="17"/>
          <p:cNvSpPr/>
          <p:nvPr/>
        </p:nvSpPr>
        <p:spPr>
          <a:xfrm flipH="false" flipV="false" rot="0">
            <a:off x="16577728" y="729265"/>
            <a:ext cx="467394" cy="267690"/>
          </a:xfrm>
          <a:custGeom>
            <a:avLst/>
            <a:gdLst/>
            <a:ahLst/>
            <a:cxnLst/>
            <a:rect r="r" b="b" t="t" l="l"/>
            <a:pathLst>
              <a:path h="267690" w="467394">
                <a:moveTo>
                  <a:pt x="0" y="0"/>
                </a:moveTo>
                <a:lnTo>
                  <a:pt x="467395" y="0"/>
                </a:lnTo>
                <a:lnTo>
                  <a:pt x="467395" y="267689"/>
                </a:lnTo>
                <a:lnTo>
                  <a:pt x="0" y="2676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true" flipV="false" rot="0">
            <a:off x="756290" y="1990126"/>
            <a:ext cx="6528142" cy="7268174"/>
          </a:xfrm>
          <a:custGeom>
            <a:avLst/>
            <a:gdLst/>
            <a:ahLst/>
            <a:cxnLst/>
            <a:rect r="r" b="b" t="t" l="l"/>
            <a:pathLst>
              <a:path h="7268174" w="6528142">
                <a:moveTo>
                  <a:pt x="6528142" y="0"/>
                </a:moveTo>
                <a:lnTo>
                  <a:pt x="0" y="0"/>
                </a:lnTo>
                <a:lnTo>
                  <a:pt x="0" y="7268174"/>
                </a:lnTo>
                <a:lnTo>
                  <a:pt x="6528142" y="7268174"/>
                </a:lnTo>
                <a:lnTo>
                  <a:pt x="6528142"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9" id="19"/>
          <p:cNvSpPr txBox="true"/>
          <p:nvPr/>
        </p:nvSpPr>
        <p:spPr>
          <a:xfrm rot="0">
            <a:off x="7149374" y="1798820"/>
            <a:ext cx="7885705" cy="2432485"/>
          </a:xfrm>
          <a:prstGeom prst="rect">
            <a:avLst/>
          </a:prstGeom>
        </p:spPr>
        <p:txBody>
          <a:bodyPr anchor="t" rtlCol="false" tIns="0" lIns="0" bIns="0" rIns="0">
            <a:spAutoFit/>
          </a:bodyPr>
          <a:lstStyle/>
          <a:p>
            <a:pPr algn="l">
              <a:lnSpc>
                <a:spcPts val="9368"/>
              </a:lnSpc>
            </a:pPr>
            <a:r>
              <a:rPr lang="en-US" sz="9368" spc="-281" b="true">
                <a:solidFill>
                  <a:srgbClr val="5284FF"/>
                </a:solidFill>
                <a:latin typeface="Montserrat Bold"/>
                <a:ea typeface="Montserrat Bold"/>
                <a:cs typeface="Montserrat Bold"/>
                <a:sym typeface="Montserrat Bold"/>
              </a:rPr>
              <a:t>RGPD Kesaco ?</a:t>
            </a:r>
          </a:p>
        </p:txBody>
      </p:sp>
      <p:sp>
        <p:nvSpPr>
          <p:cNvPr name="TextBox 20" id="20"/>
          <p:cNvSpPr txBox="true"/>
          <p:nvPr/>
        </p:nvSpPr>
        <p:spPr>
          <a:xfrm rot="0">
            <a:off x="15615098" y="707675"/>
            <a:ext cx="943167" cy="273685"/>
          </a:xfrm>
          <a:prstGeom prst="rect">
            <a:avLst/>
          </a:prstGeom>
        </p:spPr>
        <p:txBody>
          <a:bodyPr anchor="t" rtlCol="false" tIns="0" lIns="0" bIns="0" rIns="0">
            <a:spAutoFit/>
          </a:bodyPr>
          <a:lstStyle/>
          <a:p>
            <a:pPr algn="l">
              <a:lnSpc>
                <a:spcPts val="2240"/>
              </a:lnSpc>
            </a:pPr>
            <a:r>
              <a:rPr lang="en-US" sz="1600" b="true">
                <a:solidFill>
                  <a:srgbClr val="FFFFFF"/>
                </a:solidFill>
                <a:latin typeface="TT Fors Bold"/>
                <a:ea typeface="TT Fors Bold"/>
                <a:cs typeface="TT Fors Bold"/>
                <a:sym typeface="TT Fors Bold"/>
              </a:rPr>
              <a:t>Slide 02</a:t>
            </a:r>
          </a:p>
        </p:txBody>
      </p:sp>
      <p:grpSp>
        <p:nvGrpSpPr>
          <p:cNvPr name="Group 21" id="21"/>
          <p:cNvGrpSpPr/>
          <p:nvPr/>
        </p:nvGrpSpPr>
        <p:grpSpPr>
          <a:xfrm rot="0">
            <a:off x="7951050" y="5377671"/>
            <a:ext cx="12500317" cy="3880629"/>
            <a:chOff x="0" y="0"/>
            <a:chExt cx="1309099" cy="406400"/>
          </a:xfrm>
        </p:grpSpPr>
        <p:sp>
          <p:nvSpPr>
            <p:cNvPr name="Freeform 22" id="22"/>
            <p:cNvSpPr/>
            <p:nvPr/>
          </p:nvSpPr>
          <p:spPr>
            <a:xfrm flipH="false" flipV="false" rot="0">
              <a:off x="0" y="0"/>
              <a:ext cx="1309099" cy="406400"/>
            </a:xfrm>
            <a:custGeom>
              <a:avLst/>
              <a:gdLst/>
              <a:ahLst/>
              <a:cxnLst/>
              <a:rect r="r" b="b" t="t" l="l"/>
              <a:pathLst>
                <a:path h="406400" w="1309099">
                  <a:moveTo>
                    <a:pt x="1105899" y="0"/>
                  </a:moveTo>
                  <a:cubicBezTo>
                    <a:pt x="1218124" y="0"/>
                    <a:pt x="1309099" y="90976"/>
                    <a:pt x="1309099" y="203200"/>
                  </a:cubicBezTo>
                  <a:cubicBezTo>
                    <a:pt x="1309099" y="315424"/>
                    <a:pt x="1218124" y="406400"/>
                    <a:pt x="1105899" y="406400"/>
                  </a:cubicBezTo>
                  <a:lnTo>
                    <a:pt x="203200" y="406400"/>
                  </a:lnTo>
                  <a:cubicBezTo>
                    <a:pt x="90976" y="406400"/>
                    <a:pt x="0" y="315424"/>
                    <a:pt x="0" y="203200"/>
                  </a:cubicBezTo>
                  <a:cubicBezTo>
                    <a:pt x="0" y="90976"/>
                    <a:pt x="90976" y="0"/>
                    <a:pt x="203200" y="0"/>
                  </a:cubicBezTo>
                  <a:close/>
                </a:path>
              </a:pathLst>
            </a:custGeom>
            <a:solidFill>
              <a:srgbClr val="C2DCFF"/>
            </a:solidFill>
          </p:spPr>
        </p:sp>
        <p:sp>
          <p:nvSpPr>
            <p:cNvPr name="TextBox 23" id="23"/>
            <p:cNvSpPr txBox="true"/>
            <p:nvPr/>
          </p:nvSpPr>
          <p:spPr>
            <a:xfrm>
              <a:off x="0" y="-38100"/>
              <a:ext cx="1309099" cy="444500"/>
            </a:xfrm>
            <a:prstGeom prst="rect">
              <a:avLst/>
            </a:prstGeom>
          </p:spPr>
          <p:txBody>
            <a:bodyPr anchor="ctr" rtlCol="false" tIns="50800" lIns="50800" bIns="50800" rIns="50800"/>
            <a:lstStyle/>
            <a:p>
              <a:pPr algn="ctr">
                <a:lnSpc>
                  <a:spcPts val="2240"/>
                </a:lnSpc>
              </a:pPr>
            </a:p>
          </p:txBody>
        </p:sp>
      </p:grpSp>
      <p:sp>
        <p:nvSpPr>
          <p:cNvPr name="TextBox 24" id="24"/>
          <p:cNvSpPr txBox="true"/>
          <p:nvPr/>
        </p:nvSpPr>
        <p:spPr>
          <a:xfrm rot="0">
            <a:off x="9354246" y="6006393"/>
            <a:ext cx="7905054" cy="2585085"/>
          </a:xfrm>
          <a:prstGeom prst="rect">
            <a:avLst/>
          </a:prstGeom>
        </p:spPr>
        <p:txBody>
          <a:bodyPr anchor="t" rtlCol="false" tIns="0" lIns="0" bIns="0" rIns="0">
            <a:spAutoFit/>
          </a:bodyPr>
          <a:lstStyle/>
          <a:p>
            <a:pPr algn="just">
              <a:lnSpc>
                <a:spcPts val="2940"/>
              </a:lnSpc>
            </a:pPr>
            <a:r>
              <a:rPr lang="en-US" sz="2100" spc="-63">
                <a:solidFill>
                  <a:srgbClr val="000000"/>
                </a:solidFill>
                <a:latin typeface="TT Fors"/>
                <a:ea typeface="TT Fors"/>
                <a:cs typeface="TT Fors"/>
                <a:sym typeface="TT Fors"/>
              </a:rPr>
              <a:t>Le RGPD (Réglementation Générale sur la Protection des données) est un texte de loi européen encadrant l’utilisation, le stockage, le partage et la suppression des données personnelles. Le RGPD est entré en application le 25 mai 2018 dans tous les pays membres de l’</a:t>
            </a:r>
            <a:r>
              <a:rPr lang="en-US" sz="2100" spc="-63">
                <a:solidFill>
                  <a:srgbClr val="000000"/>
                </a:solidFill>
                <a:latin typeface="TT Fors"/>
                <a:ea typeface="TT Fors"/>
                <a:cs typeface="TT Fors"/>
                <a:sym typeface="TT Fors"/>
              </a:rPr>
              <a:t>union européenne. Son objectif principal est de protéger la vie privée des personnes et de leur donner davantage de contrôle sur les informations personnelles possédées par une société.</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9583" y="-233292"/>
            <a:ext cx="21507167" cy="10753583"/>
            <a:chOff x="0" y="0"/>
            <a:chExt cx="28676222" cy="14338111"/>
          </a:xfrm>
        </p:grpSpPr>
        <p:sp>
          <p:nvSpPr>
            <p:cNvPr name="Freeform 3" id="3"/>
            <p:cNvSpPr/>
            <p:nvPr/>
          </p:nvSpPr>
          <p:spPr>
            <a:xfrm flipH="false" flipV="false" rot="0">
              <a:off x="0" y="0"/>
              <a:ext cx="7169056" cy="7169056"/>
            </a:xfrm>
            <a:custGeom>
              <a:avLst/>
              <a:gdLst/>
              <a:ahLst/>
              <a:cxnLst/>
              <a:rect r="r" b="b" t="t" l="l"/>
              <a:pathLst>
                <a:path h="7169056" w="7169056">
                  <a:moveTo>
                    <a:pt x="0" y="0"/>
                  </a:moveTo>
                  <a:lnTo>
                    <a:pt x="7169056" y="0"/>
                  </a:lnTo>
                  <a:lnTo>
                    <a:pt x="7169056"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169056"/>
              <a:ext cx="7169056" cy="7169056"/>
            </a:xfrm>
            <a:custGeom>
              <a:avLst/>
              <a:gdLst/>
              <a:ahLst/>
              <a:cxnLst/>
              <a:rect r="r" b="b" t="t" l="l"/>
              <a:pathLst>
                <a:path h="7169056" w="7169056">
                  <a:moveTo>
                    <a:pt x="0" y="0"/>
                  </a:moveTo>
                  <a:lnTo>
                    <a:pt x="7169056" y="0"/>
                  </a:lnTo>
                  <a:lnTo>
                    <a:pt x="7169056"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7169056" y="0"/>
              <a:ext cx="7169056" cy="7169056"/>
            </a:xfrm>
            <a:custGeom>
              <a:avLst/>
              <a:gdLst/>
              <a:ahLst/>
              <a:cxnLst/>
              <a:rect r="r" b="b" t="t" l="l"/>
              <a:pathLst>
                <a:path h="7169056" w="7169056">
                  <a:moveTo>
                    <a:pt x="0" y="0"/>
                  </a:moveTo>
                  <a:lnTo>
                    <a:pt x="7169055" y="0"/>
                  </a:lnTo>
                  <a:lnTo>
                    <a:pt x="7169055"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169056" y="7169056"/>
              <a:ext cx="7169056" cy="7169056"/>
            </a:xfrm>
            <a:custGeom>
              <a:avLst/>
              <a:gdLst/>
              <a:ahLst/>
              <a:cxnLst/>
              <a:rect r="r" b="b" t="t" l="l"/>
              <a:pathLst>
                <a:path h="7169056" w="7169056">
                  <a:moveTo>
                    <a:pt x="0" y="0"/>
                  </a:moveTo>
                  <a:lnTo>
                    <a:pt x="7169055" y="0"/>
                  </a:lnTo>
                  <a:lnTo>
                    <a:pt x="7169055"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338111" y="0"/>
              <a:ext cx="7169056" cy="7169056"/>
            </a:xfrm>
            <a:custGeom>
              <a:avLst/>
              <a:gdLst/>
              <a:ahLst/>
              <a:cxnLst/>
              <a:rect r="r" b="b" t="t" l="l"/>
              <a:pathLst>
                <a:path h="7169056" w="7169056">
                  <a:moveTo>
                    <a:pt x="0" y="0"/>
                  </a:moveTo>
                  <a:lnTo>
                    <a:pt x="7169056" y="0"/>
                  </a:lnTo>
                  <a:lnTo>
                    <a:pt x="7169056"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4338111" y="7169056"/>
              <a:ext cx="7169056" cy="7169056"/>
            </a:xfrm>
            <a:custGeom>
              <a:avLst/>
              <a:gdLst/>
              <a:ahLst/>
              <a:cxnLst/>
              <a:rect r="r" b="b" t="t" l="l"/>
              <a:pathLst>
                <a:path h="7169056" w="7169056">
                  <a:moveTo>
                    <a:pt x="0" y="0"/>
                  </a:moveTo>
                  <a:lnTo>
                    <a:pt x="7169056" y="0"/>
                  </a:lnTo>
                  <a:lnTo>
                    <a:pt x="7169056"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507167" y="0"/>
              <a:ext cx="7169056" cy="7169056"/>
            </a:xfrm>
            <a:custGeom>
              <a:avLst/>
              <a:gdLst/>
              <a:ahLst/>
              <a:cxnLst/>
              <a:rect r="r" b="b" t="t" l="l"/>
              <a:pathLst>
                <a:path h="7169056" w="7169056">
                  <a:moveTo>
                    <a:pt x="0" y="0"/>
                  </a:moveTo>
                  <a:lnTo>
                    <a:pt x="7169055" y="0"/>
                  </a:lnTo>
                  <a:lnTo>
                    <a:pt x="7169055"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1507167" y="7169056"/>
              <a:ext cx="7169056" cy="7169056"/>
            </a:xfrm>
            <a:custGeom>
              <a:avLst/>
              <a:gdLst/>
              <a:ahLst/>
              <a:cxnLst/>
              <a:rect r="r" b="b" t="t" l="l"/>
              <a:pathLst>
                <a:path h="7169056" w="7169056">
                  <a:moveTo>
                    <a:pt x="0" y="0"/>
                  </a:moveTo>
                  <a:lnTo>
                    <a:pt x="7169055" y="0"/>
                  </a:lnTo>
                  <a:lnTo>
                    <a:pt x="7169055"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0" y="7278866"/>
            <a:ext cx="18288000" cy="3008134"/>
            <a:chOff x="0" y="0"/>
            <a:chExt cx="4816593" cy="792266"/>
          </a:xfrm>
        </p:grpSpPr>
        <p:sp>
          <p:nvSpPr>
            <p:cNvPr name="Freeform 12" id="12"/>
            <p:cNvSpPr/>
            <p:nvPr/>
          </p:nvSpPr>
          <p:spPr>
            <a:xfrm flipH="false" flipV="false" rot="0">
              <a:off x="0" y="0"/>
              <a:ext cx="4816592" cy="792266"/>
            </a:xfrm>
            <a:custGeom>
              <a:avLst/>
              <a:gdLst/>
              <a:ahLst/>
              <a:cxnLst/>
              <a:rect r="r" b="b" t="t" l="l"/>
              <a:pathLst>
                <a:path h="792266" w="4816592">
                  <a:moveTo>
                    <a:pt x="0" y="0"/>
                  </a:moveTo>
                  <a:lnTo>
                    <a:pt x="4816592" y="0"/>
                  </a:lnTo>
                  <a:lnTo>
                    <a:pt x="4816592" y="792266"/>
                  </a:lnTo>
                  <a:lnTo>
                    <a:pt x="0" y="792266"/>
                  </a:lnTo>
                  <a:close/>
                </a:path>
              </a:pathLst>
            </a:custGeom>
            <a:solidFill>
              <a:srgbClr val="5284FF"/>
            </a:solidFill>
          </p:spPr>
        </p:sp>
        <p:sp>
          <p:nvSpPr>
            <p:cNvPr name="TextBox 13" id="13"/>
            <p:cNvSpPr txBox="true"/>
            <p:nvPr/>
          </p:nvSpPr>
          <p:spPr>
            <a:xfrm>
              <a:off x="0" y="-38100"/>
              <a:ext cx="4816593" cy="830366"/>
            </a:xfrm>
            <a:prstGeom prst="rect">
              <a:avLst/>
            </a:prstGeom>
          </p:spPr>
          <p:txBody>
            <a:bodyPr anchor="ctr" rtlCol="false" tIns="50800" lIns="50800" bIns="50800" rIns="50800"/>
            <a:lstStyle/>
            <a:p>
              <a:pPr algn="ctr">
                <a:lnSpc>
                  <a:spcPts val="2240"/>
                </a:lnSpc>
              </a:pPr>
            </a:p>
          </p:txBody>
        </p:sp>
      </p:grpSp>
      <p:grpSp>
        <p:nvGrpSpPr>
          <p:cNvPr name="Group 14" id="14"/>
          <p:cNvGrpSpPr/>
          <p:nvPr/>
        </p:nvGrpSpPr>
        <p:grpSpPr>
          <a:xfrm rot="0">
            <a:off x="15274457" y="574006"/>
            <a:ext cx="1984843" cy="579122"/>
            <a:chOff x="0" y="0"/>
            <a:chExt cx="1392868" cy="406400"/>
          </a:xfrm>
        </p:grpSpPr>
        <p:sp>
          <p:nvSpPr>
            <p:cNvPr name="Freeform 15" id="15"/>
            <p:cNvSpPr/>
            <p:nvPr/>
          </p:nvSpPr>
          <p:spPr>
            <a:xfrm flipH="false" flipV="false" rot="0">
              <a:off x="0" y="0"/>
              <a:ext cx="1392868" cy="406400"/>
            </a:xfrm>
            <a:custGeom>
              <a:avLst/>
              <a:gdLst/>
              <a:ahLst/>
              <a:cxnLst/>
              <a:rect r="r" b="b" t="t" l="l"/>
              <a:pathLst>
                <a:path h="406400" w="1392868">
                  <a:moveTo>
                    <a:pt x="1189668" y="0"/>
                  </a:moveTo>
                  <a:cubicBezTo>
                    <a:pt x="1301892" y="0"/>
                    <a:pt x="1392868" y="90976"/>
                    <a:pt x="1392868" y="203200"/>
                  </a:cubicBezTo>
                  <a:cubicBezTo>
                    <a:pt x="1392868" y="315424"/>
                    <a:pt x="1301892" y="406400"/>
                    <a:pt x="1189668" y="406400"/>
                  </a:cubicBezTo>
                  <a:lnTo>
                    <a:pt x="203200" y="406400"/>
                  </a:lnTo>
                  <a:cubicBezTo>
                    <a:pt x="90976" y="406400"/>
                    <a:pt x="0" y="315424"/>
                    <a:pt x="0" y="203200"/>
                  </a:cubicBezTo>
                  <a:cubicBezTo>
                    <a:pt x="0" y="90976"/>
                    <a:pt x="90976" y="0"/>
                    <a:pt x="203200" y="0"/>
                  </a:cubicBezTo>
                  <a:close/>
                </a:path>
              </a:pathLst>
            </a:custGeom>
            <a:solidFill>
              <a:srgbClr val="5284FF"/>
            </a:solidFill>
          </p:spPr>
        </p:sp>
        <p:sp>
          <p:nvSpPr>
            <p:cNvPr name="TextBox 16" id="16"/>
            <p:cNvSpPr txBox="true"/>
            <p:nvPr/>
          </p:nvSpPr>
          <p:spPr>
            <a:xfrm>
              <a:off x="0" y="-38100"/>
              <a:ext cx="1392868" cy="444500"/>
            </a:xfrm>
            <a:prstGeom prst="rect">
              <a:avLst/>
            </a:prstGeom>
          </p:spPr>
          <p:txBody>
            <a:bodyPr anchor="ctr" rtlCol="false" tIns="50800" lIns="50800" bIns="50800" rIns="50800"/>
            <a:lstStyle/>
            <a:p>
              <a:pPr algn="ctr">
                <a:lnSpc>
                  <a:spcPts val="2240"/>
                </a:lnSpc>
              </a:pPr>
            </a:p>
          </p:txBody>
        </p:sp>
      </p:grpSp>
      <p:sp>
        <p:nvSpPr>
          <p:cNvPr name="Freeform 17" id="17"/>
          <p:cNvSpPr/>
          <p:nvPr/>
        </p:nvSpPr>
        <p:spPr>
          <a:xfrm flipH="false" flipV="false" rot="0">
            <a:off x="16577728" y="729265"/>
            <a:ext cx="467394" cy="267690"/>
          </a:xfrm>
          <a:custGeom>
            <a:avLst/>
            <a:gdLst/>
            <a:ahLst/>
            <a:cxnLst/>
            <a:rect r="r" b="b" t="t" l="l"/>
            <a:pathLst>
              <a:path h="267690" w="467394">
                <a:moveTo>
                  <a:pt x="0" y="0"/>
                </a:moveTo>
                <a:lnTo>
                  <a:pt x="467395" y="0"/>
                </a:lnTo>
                <a:lnTo>
                  <a:pt x="467395" y="267689"/>
                </a:lnTo>
                <a:lnTo>
                  <a:pt x="0" y="2676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8" id="18"/>
          <p:cNvGrpSpPr/>
          <p:nvPr/>
        </p:nvGrpSpPr>
        <p:grpSpPr>
          <a:xfrm rot="0">
            <a:off x="-1137059" y="6907391"/>
            <a:ext cx="12217224" cy="2820291"/>
            <a:chOff x="0" y="0"/>
            <a:chExt cx="1760485" cy="406400"/>
          </a:xfrm>
        </p:grpSpPr>
        <p:sp>
          <p:nvSpPr>
            <p:cNvPr name="Freeform 19" id="19"/>
            <p:cNvSpPr/>
            <p:nvPr/>
          </p:nvSpPr>
          <p:spPr>
            <a:xfrm flipH="false" flipV="false" rot="0">
              <a:off x="0" y="0"/>
              <a:ext cx="1760485" cy="406400"/>
            </a:xfrm>
            <a:custGeom>
              <a:avLst/>
              <a:gdLst/>
              <a:ahLst/>
              <a:cxnLst/>
              <a:rect r="r" b="b" t="t" l="l"/>
              <a:pathLst>
                <a:path h="406400" w="1760485">
                  <a:moveTo>
                    <a:pt x="1557285" y="0"/>
                  </a:moveTo>
                  <a:cubicBezTo>
                    <a:pt x="1669509" y="0"/>
                    <a:pt x="1760485" y="90976"/>
                    <a:pt x="1760485" y="203200"/>
                  </a:cubicBezTo>
                  <a:cubicBezTo>
                    <a:pt x="1760485" y="315424"/>
                    <a:pt x="1669509" y="406400"/>
                    <a:pt x="1557285" y="406400"/>
                  </a:cubicBezTo>
                  <a:lnTo>
                    <a:pt x="203200" y="406400"/>
                  </a:lnTo>
                  <a:cubicBezTo>
                    <a:pt x="90976" y="406400"/>
                    <a:pt x="0" y="315424"/>
                    <a:pt x="0" y="203200"/>
                  </a:cubicBezTo>
                  <a:cubicBezTo>
                    <a:pt x="0" y="90976"/>
                    <a:pt x="90976" y="0"/>
                    <a:pt x="203200" y="0"/>
                  </a:cubicBezTo>
                  <a:close/>
                </a:path>
              </a:pathLst>
            </a:custGeom>
            <a:solidFill>
              <a:srgbClr val="C2DCFF"/>
            </a:solidFill>
          </p:spPr>
        </p:sp>
        <p:sp>
          <p:nvSpPr>
            <p:cNvPr name="TextBox 20" id="20"/>
            <p:cNvSpPr txBox="true"/>
            <p:nvPr/>
          </p:nvSpPr>
          <p:spPr>
            <a:xfrm>
              <a:off x="0" y="-38100"/>
              <a:ext cx="1760485" cy="444500"/>
            </a:xfrm>
            <a:prstGeom prst="rect">
              <a:avLst/>
            </a:prstGeom>
          </p:spPr>
          <p:txBody>
            <a:bodyPr anchor="ctr" rtlCol="false" tIns="50800" lIns="50800" bIns="50800" rIns="50800"/>
            <a:lstStyle/>
            <a:p>
              <a:pPr algn="ctr">
                <a:lnSpc>
                  <a:spcPts val="2240"/>
                </a:lnSpc>
              </a:pPr>
              <a:r>
                <a:rPr lang="en-US" sz="1600">
                  <a:solidFill>
                    <a:srgbClr val="000000"/>
                  </a:solidFill>
                  <a:latin typeface="TT Fors"/>
                  <a:ea typeface="TT Fors"/>
                  <a:cs typeface="TT Fors"/>
                  <a:sym typeface="TT Fors"/>
                </a:rPr>
                <a:t>QUI ? → QUOI ? → POURQUOI ? → COMMENT ? </a:t>
              </a:r>
            </a:p>
            <a:p>
              <a:pPr algn="ctr">
                <a:lnSpc>
                  <a:spcPts val="2240"/>
                </a:lnSpc>
              </a:pPr>
              <a:r>
                <a:rPr lang="en-US" sz="1600">
                  <a:solidFill>
                    <a:srgbClr val="000000"/>
                  </a:solidFill>
                  <a:latin typeface="TT Fors"/>
                  <a:ea typeface="TT Fors"/>
                  <a:cs typeface="TT Fors"/>
                  <a:sym typeface="TT Fors"/>
                </a:rPr>
                <a:t>→ COMBIEN DE TEMPS ? → QUI Y A ACCÈS ? → QUELS RISQUES ? </a:t>
              </a:r>
            </a:p>
          </p:txBody>
        </p:sp>
      </p:grpSp>
      <p:sp>
        <p:nvSpPr>
          <p:cNvPr name="Freeform 21" id="21"/>
          <p:cNvSpPr/>
          <p:nvPr/>
        </p:nvSpPr>
        <p:spPr>
          <a:xfrm flipH="false" flipV="false" rot="0">
            <a:off x="8009128" y="2676378"/>
            <a:ext cx="10278872" cy="4231013"/>
          </a:xfrm>
          <a:custGeom>
            <a:avLst/>
            <a:gdLst/>
            <a:ahLst/>
            <a:cxnLst/>
            <a:rect r="r" b="b" t="t" l="l"/>
            <a:pathLst>
              <a:path h="4231013" w="10278872">
                <a:moveTo>
                  <a:pt x="0" y="0"/>
                </a:moveTo>
                <a:lnTo>
                  <a:pt x="10278872" y="0"/>
                </a:lnTo>
                <a:lnTo>
                  <a:pt x="10278872" y="4231013"/>
                </a:lnTo>
                <a:lnTo>
                  <a:pt x="0" y="4231013"/>
                </a:lnTo>
                <a:lnTo>
                  <a:pt x="0" y="0"/>
                </a:lnTo>
                <a:close/>
              </a:path>
            </a:pathLst>
          </a:custGeom>
          <a:blipFill>
            <a:blip r:embed="rId6"/>
            <a:stretch>
              <a:fillRect l="0" t="0" r="0" b="0"/>
            </a:stretch>
          </a:blipFill>
        </p:spPr>
      </p:sp>
      <p:sp>
        <p:nvSpPr>
          <p:cNvPr name="Freeform 22" id="22"/>
          <p:cNvSpPr/>
          <p:nvPr/>
        </p:nvSpPr>
        <p:spPr>
          <a:xfrm flipH="false" flipV="false" rot="0">
            <a:off x="122069" y="4103583"/>
            <a:ext cx="7887059" cy="2622056"/>
          </a:xfrm>
          <a:custGeom>
            <a:avLst/>
            <a:gdLst/>
            <a:ahLst/>
            <a:cxnLst/>
            <a:rect r="r" b="b" t="t" l="l"/>
            <a:pathLst>
              <a:path h="2622056" w="7887059">
                <a:moveTo>
                  <a:pt x="0" y="0"/>
                </a:moveTo>
                <a:lnTo>
                  <a:pt x="7887059" y="0"/>
                </a:lnTo>
                <a:lnTo>
                  <a:pt x="7887059" y="2622057"/>
                </a:lnTo>
                <a:lnTo>
                  <a:pt x="0" y="2622057"/>
                </a:lnTo>
                <a:lnTo>
                  <a:pt x="0" y="0"/>
                </a:lnTo>
                <a:close/>
              </a:path>
            </a:pathLst>
          </a:custGeom>
          <a:blipFill>
            <a:blip r:embed="rId7"/>
            <a:stretch>
              <a:fillRect l="0" t="0" r="-1318" b="0"/>
            </a:stretch>
          </a:blipFill>
        </p:spPr>
      </p:sp>
      <p:sp>
        <p:nvSpPr>
          <p:cNvPr name="TextBox 23" id="23"/>
          <p:cNvSpPr txBox="true"/>
          <p:nvPr/>
        </p:nvSpPr>
        <p:spPr>
          <a:xfrm rot="0">
            <a:off x="1028700" y="1798820"/>
            <a:ext cx="7885705" cy="2432485"/>
          </a:xfrm>
          <a:prstGeom prst="rect">
            <a:avLst/>
          </a:prstGeom>
        </p:spPr>
        <p:txBody>
          <a:bodyPr anchor="t" rtlCol="false" tIns="0" lIns="0" bIns="0" rIns="0">
            <a:spAutoFit/>
          </a:bodyPr>
          <a:lstStyle/>
          <a:p>
            <a:pPr algn="l">
              <a:lnSpc>
                <a:spcPts val="9368"/>
              </a:lnSpc>
            </a:pPr>
            <a:r>
              <a:rPr lang="en-US" sz="9368" spc="-281" b="true">
                <a:solidFill>
                  <a:srgbClr val="5284FF"/>
                </a:solidFill>
                <a:latin typeface="Montserrat Bold"/>
                <a:ea typeface="Montserrat Bold"/>
                <a:cs typeface="Montserrat Bold"/>
                <a:sym typeface="Montserrat Bold"/>
              </a:rPr>
              <a:t>Registre de traitement</a:t>
            </a:r>
          </a:p>
        </p:txBody>
      </p:sp>
      <p:sp>
        <p:nvSpPr>
          <p:cNvPr name="TextBox 24" id="24"/>
          <p:cNvSpPr txBox="true"/>
          <p:nvPr/>
        </p:nvSpPr>
        <p:spPr>
          <a:xfrm rot="0">
            <a:off x="15615098" y="707675"/>
            <a:ext cx="943167" cy="273685"/>
          </a:xfrm>
          <a:prstGeom prst="rect">
            <a:avLst/>
          </a:prstGeom>
        </p:spPr>
        <p:txBody>
          <a:bodyPr anchor="t" rtlCol="false" tIns="0" lIns="0" bIns="0" rIns="0">
            <a:spAutoFit/>
          </a:bodyPr>
          <a:lstStyle/>
          <a:p>
            <a:pPr algn="l">
              <a:lnSpc>
                <a:spcPts val="2240"/>
              </a:lnSpc>
            </a:pPr>
            <a:r>
              <a:rPr lang="en-US" sz="1600" b="true">
                <a:solidFill>
                  <a:srgbClr val="FFFFFF"/>
                </a:solidFill>
                <a:latin typeface="TT Fors Bold"/>
                <a:ea typeface="TT Fors Bold"/>
                <a:cs typeface="TT Fors Bold"/>
                <a:sym typeface="TT Fors Bold"/>
              </a:rPr>
              <a:t>Slide 03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9583" y="-233292"/>
            <a:ext cx="21507167" cy="10753583"/>
            <a:chOff x="0" y="0"/>
            <a:chExt cx="28676222" cy="14338111"/>
          </a:xfrm>
        </p:grpSpPr>
        <p:sp>
          <p:nvSpPr>
            <p:cNvPr name="Freeform 3" id="3"/>
            <p:cNvSpPr/>
            <p:nvPr/>
          </p:nvSpPr>
          <p:spPr>
            <a:xfrm flipH="false" flipV="false" rot="0">
              <a:off x="0" y="0"/>
              <a:ext cx="7169056" cy="7169056"/>
            </a:xfrm>
            <a:custGeom>
              <a:avLst/>
              <a:gdLst/>
              <a:ahLst/>
              <a:cxnLst/>
              <a:rect r="r" b="b" t="t" l="l"/>
              <a:pathLst>
                <a:path h="7169056" w="7169056">
                  <a:moveTo>
                    <a:pt x="0" y="0"/>
                  </a:moveTo>
                  <a:lnTo>
                    <a:pt x="7169056" y="0"/>
                  </a:lnTo>
                  <a:lnTo>
                    <a:pt x="7169056"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169056"/>
              <a:ext cx="7169056" cy="7169056"/>
            </a:xfrm>
            <a:custGeom>
              <a:avLst/>
              <a:gdLst/>
              <a:ahLst/>
              <a:cxnLst/>
              <a:rect r="r" b="b" t="t" l="l"/>
              <a:pathLst>
                <a:path h="7169056" w="7169056">
                  <a:moveTo>
                    <a:pt x="0" y="0"/>
                  </a:moveTo>
                  <a:lnTo>
                    <a:pt x="7169056" y="0"/>
                  </a:lnTo>
                  <a:lnTo>
                    <a:pt x="7169056"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7169056" y="0"/>
              <a:ext cx="7169056" cy="7169056"/>
            </a:xfrm>
            <a:custGeom>
              <a:avLst/>
              <a:gdLst/>
              <a:ahLst/>
              <a:cxnLst/>
              <a:rect r="r" b="b" t="t" l="l"/>
              <a:pathLst>
                <a:path h="7169056" w="7169056">
                  <a:moveTo>
                    <a:pt x="0" y="0"/>
                  </a:moveTo>
                  <a:lnTo>
                    <a:pt x="7169055" y="0"/>
                  </a:lnTo>
                  <a:lnTo>
                    <a:pt x="7169055"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169056" y="7169056"/>
              <a:ext cx="7169056" cy="7169056"/>
            </a:xfrm>
            <a:custGeom>
              <a:avLst/>
              <a:gdLst/>
              <a:ahLst/>
              <a:cxnLst/>
              <a:rect r="r" b="b" t="t" l="l"/>
              <a:pathLst>
                <a:path h="7169056" w="7169056">
                  <a:moveTo>
                    <a:pt x="0" y="0"/>
                  </a:moveTo>
                  <a:lnTo>
                    <a:pt x="7169055" y="0"/>
                  </a:lnTo>
                  <a:lnTo>
                    <a:pt x="7169055"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338111" y="0"/>
              <a:ext cx="7169056" cy="7169056"/>
            </a:xfrm>
            <a:custGeom>
              <a:avLst/>
              <a:gdLst/>
              <a:ahLst/>
              <a:cxnLst/>
              <a:rect r="r" b="b" t="t" l="l"/>
              <a:pathLst>
                <a:path h="7169056" w="7169056">
                  <a:moveTo>
                    <a:pt x="0" y="0"/>
                  </a:moveTo>
                  <a:lnTo>
                    <a:pt x="7169056" y="0"/>
                  </a:lnTo>
                  <a:lnTo>
                    <a:pt x="7169056"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4338111" y="7169056"/>
              <a:ext cx="7169056" cy="7169056"/>
            </a:xfrm>
            <a:custGeom>
              <a:avLst/>
              <a:gdLst/>
              <a:ahLst/>
              <a:cxnLst/>
              <a:rect r="r" b="b" t="t" l="l"/>
              <a:pathLst>
                <a:path h="7169056" w="7169056">
                  <a:moveTo>
                    <a:pt x="0" y="0"/>
                  </a:moveTo>
                  <a:lnTo>
                    <a:pt x="7169056" y="0"/>
                  </a:lnTo>
                  <a:lnTo>
                    <a:pt x="7169056"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507167" y="0"/>
              <a:ext cx="7169056" cy="7169056"/>
            </a:xfrm>
            <a:custGeom>
              <a:avLst/>
              <a:gdLst/>
              <a:ahLst/>
              <a:cxnLst/>
              <a:rect r="r" b="b" t="t" l="l"/>
              <a:pathLst>
                <a:path h="7169056" w="7169056">
                  <a:moveTo>
                    <a:pt x="0" y="0"/>
                  </a:moveTo>
                  <a:lnTo>
                    <a:pt x="7169055" y="0"/>
                  </a:lnTo>
                  <a:lnTo>
                    <a:pt x="7169055"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1507167" y="7169056"/>
              <a:ext cx="7169056" cy="7169056"/>
            </a:xfrm>
            <a:custGeom>
              <a:avLst/>
              <a:gdLst/>
              <a:ahLst/>
              <a:cxnLst/>
              <a:rect r="r" b="b" t="t" l="l"/>
              <a:pathLst>
                <a:path h="7169056" w="7169056">
                  <a:moveTo>
                    <a:pt x="0" y="0"/>
                  </a:moveTo>
                  <a:lnTo>
                    <a:pt x="7169055" y="0"/>
                  </a:lnTo>
                  <a:lnTo>
                    <a:pt x="7169055"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0" y="7278866"/>
            <a:ext cx="18288000" cy="3008134"/>
            <a:chOff x="0" y="0"/>
            <a:chExt cx="4816593" cy="792266"/>
          </a:xfrm>
        </p:grpSpPr>
        <p:sp>
          <p:nvSpPr>
            <p:cNvPr name="Freeform 12" id="12"/>
            <p:cNvSpPr/>
            <p:nvPr/>
          </p:nvSpPr>
          <p:spPr>
            <a:xfrm flipH="false" flipV="false" rot="0">
              <a:off x="0" y="0"/>
              <a:ext cx="4816592" cy="792266"/>
            </a:xfrm>
            <a:custGeom>
              <a:avLst/>
              <a:gdLst/>
              <a:ahLst/>
              <a:cxnLst/>
              <a:rect r="r" b="b" t="t" l="l"/>
              <a:pathLst>
                <a:path h="792266" w="4816592">
                  <a:moveTo>
                    <a:pt x="0" y="0"/>
                  </a:moveTo>
                  <a:lnTo>
                    <a:pt x="4816592" y="0"/>
                  </a:lnTo>
                  <a:lnTo>
                    <a:pt x="4816592" y="792266"/>
                  </a:lnTo>
                  <a:lnTo>
                    <a:pt x="0" y="792266"/>
                  </a:lnTo>
                  <a:close/>
                </a:path>
              </a:pathLst>
            </a:custGeom>
            <a:solidFill>
              <a:srgbClr val="5284FF"/>
            </a:solidFill>
          </p:spPr>
        </p:sp>
        <p:sp>
          <p:nvSpPr>
            <p:cNvPr name="TextBox 13" id="13"/>
            <p:cNvSpPr txBox="true"/>
            <p:nvPr/>
          </p:nvSpPr>
          <p:spPr>
            <a:xfrm>
              <a:off x="0" y="-38100"/>
              <a:ext cx="4816593" cy="830366"/>
            </a:xfrm>
            <a:prstGeom prst="rect">
              <a:avLst/>
            </a:prstGeom>
          </p:spPr>
          <p:txBody>
            <a:bodyPr anchor="ctr" rtlCol="false" tIns="50800" lIns="50800" bIns="50800" rIns="50800"/>
            <a:lstStyle/>
            <a:p>
              <a:pPr algn="ctr">
                <a:lnSpc>
                  <a:spcPts val="2240"/>
                </a:lnSpc>
              </a:pPr>
            </a:p>
          </p:txBody>
        </p:sp>
      </p:grpSp>
      <p:grpSp>
        <p:nvGrpSpPr>
          <p:cNvPr name="Group 14" id="14"/>
          <p:cNvGrpSpPr/>
          <p:nvPr/>
        </p:nvGrpSpPr>
        <p:grpSpPr>
          <a:xfrm rot="0">
            <a:off x="15274457" y="574006"/>
            <a:ext cx="1984843" cy="579122"/>
            <a:chOff x="0" y="0"/>
            <a:chExt cx="1392868" cy="406400"/>
          </a:xfrm>
        </p:grpSpPr>
        <p:sp>
          <p:nvSpPr>
            <p:cNvPr name="Freeform 15" id="15"/>
            <p:cNvSpPr/>
            <p:nvPr/>
          </p:nvSpPr>
          <p:spPr>
            <a:xfrm flipH="false" flipV="false" rot="0">
              <a:off x="0" y="0"/>
              <a:ext cx="1392868" cy="406400"/>
            </a:xfrm>
            <a:custGeom>
              <a:avLst/>
              <a:gdLst/>
              <a:ahLst/>
              <a:cxnLst/>
              <a:rect r="r" b="b" t="t" l="l"/>
              <a:pathLst>
                <a:path h="406400" w="1392868">
                  <a:moveTo>
                    <a:pt x="1189668" y="0"/>
                  </a:moveTo>
                  <a:cubicBezTo>
                    <a:pt x="1301892" y="0"/>
                    <a:pt x="1392868" y="90976"/>
                    <a:pt x="1392868" y="203200"/>
                  </a:cubicBezTo>
                  <a:cubicBezTo>
                    <a:pt x="1392868" y="315424"/>
                    <a:pt x="1301892" y="406400"/>
                    <a:pt x="1189668" y="406400"/>
                  </a:cubicBezTo>
                  <a:lnTo>
                    <a:pt x="203200" y="406400"/>
                  </a:lnTo>
                  <a:cubicBezTo>
                    <a:pt x="90976" y="406400"/>
                    <a:pt x="0" y="315424"/>
                    <a:pt x="0" y="203200"/>
                  </a:cubicBezTo>
                  <a:cubicBezTo>
                    <a:pt x="0" y="90976"/>
                    <a:pt x="90976" y="0"/>
                    <a:pt x="203200" y="0"/>
                  </a:cubicBezTo>
                  <a:close/>
                </a:path>
              </a:pathLst>
            </a:custGeom>
            <a:solidFill>
              <a:srgbClr val="5284FF"/>
            </a:solidFill>
          </p:spPr>
        </p:sp>
        <p:sp>
          <p:nvSpPr>
            <p:cNvPr name="TextBox 16" id="16"/>
            <p:cNvSpPr txBox="true"/>
            <p:nvPr/>
          </p:nvSpPr>
          <p:spPr>
            <a:xfrm>
              <a:off x="0" y="-38100"/>
              <a:ext cx="1392868" cy="444500"/>
            </a:xfrm>
            <a:prstGeom prst="rect">
              <a:avLst/>
            </a:prstGeom>
          </p:spPr>
          <p:txBody>
            <a:bodyPr anchor="ctr" rtlCol="false" tIns="50800" lIns="50800" bIns="50800" rIns="50800"/>
            <a:lstStyle/>
            <a:p>
              <a:pPr algn="ctr">
                <a:lnSpc>
                  <a:spcPts val="2240"/>
                </a:lnSpc>
              </a:pPr>
            </a:p>
          </p:txBody>
        </p:sp>
      </p:grpSp>
      <p:sp>
        <p:nvSpPr>
          <p:cNvPr name="Freeform 17" id="17"/>
          <p:cNvSpPr/>
          <p:nvPr/>
        </p:nvSpPr>
        <p:spPr>
          <a:xfrm flipH="false" flipV="false" rot="0">
            <a:off x="16577728" y="729265"/>
            <a:ext cx="467394" cy="267690"/>
          </a:xfrm>
          <a:custGeom>
            <a:avLst/>
            <a:gdLst/>
            <a:ahLst/>
            <a:cxnLst/>
            <a:rect r="r" b="b" t="t" l="l"/>
            <a:pathLst>
              <a:path h="267690" w="467394">
                <a:moveTo>
                  <a:pt x="0" y="0"/>
                </a:moveTo>
                <a:lnTo>
                  <a:pt x="467395" y="0"/>
                </a:lnTo>
                <a:lnTo>
                  <a:pt x="467395" y="267689"/>
                </a:lnTo>
                <a:lnTo>
                  <a:pt x="0" y="2676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8" id="18"/>
          <p:cNvGrpSpPr/>
          <p:nvPr/>
        </p:nvGrpSpPr>
        <p:grpSpPr>
          <a:xfrm rot="0">
            <a:off x="-1137059" y="6907391"/>
            <a:ext cx="12217224" cy="2820291"/>
            <a:chOff x="0" y="0"/>
            <a:chExt cx="1760485" cy="406400"/>
          </a:xfrm>
        </p:grpSpPr>
        <p:sp>
          <p:nvSpPr>
            <p:cNvPr name="Freeform 19" id="19"/>
            <p:cNvSpPr/>
            <p:nvPr/>
          </p:nvSpPr>
          <p:spPr>
            <a:xfrm flipH="false" flipV="false" rot="0">
              <a:off x="0" y="0"/>
              <a:ext cx="1760485" cy="406400"/>
            </a:xfrm>
            <a:custGeom>
              <a:avLst/>
              <a:gdLst/>
              <a:ahLst/>
              <a:cxnLst/>
              <a:rect r="r" b="b" t="t" l="l"/>
              <a:pathLst>
                <a:path h="406400" w="1760485">
                  <a:moveTo>
                    <a:pt x="1557285" y="0"/>
                  </a:moveTo>
                  <a:cubicBezTo>
                    <a:pt x="1669509" y="0"/>
                    <a:pt x="1760485" y="90976"/>
                    <a:pt x="1760485" y="203200"/>
                  </a:cubicBezTo>
                  <a:cubicBezTo>
                    <a:pt x="1760485" y="315424"/>
                    <a:pt x="1669509" y="406400"/>
                    <a:pt x="1557285" y="406400"/>
                  </a:cubicBezTo>
                  <a:lnTo>
                    <a:pt x="203200" y="406400"/>
                  </a:lnTo>
                  <a:cubicBezTo>
                    <a:pt x="90976" y="406400"/>
                    <a:pt x="0" y="315424"/>
                    <a:pt x="0" y="203200"/>
                  </a:cubicBezTo>
                  <a:cubicBezTo>
                    <a:pt x="0" y="90976"/>
                    <a:pt x="90976" y="0"/>
                    <a:pt x="203200" y="0"/>
                  </a:cubicBezTo>
                  <a:close/>
                </a:path>
              </a:pathLst>
            </a:custGeom>
            <a:solidFill>
              <a:srgbClr val="C2DCFF"/>
            </a:solidFill>
          </p:spPr>
        </p:sp>
        <p:sp>
          <p:nvSpPr>
            <p:cNvPr name="TextBox 20" id="20"/>
            <p:cNvSpPr txBox="true"/>
            <p:nvPr/>
          </p:nvSpPr>
          <p:spPr>
            <a:xfrm>
              <a:off x="0" y="-38100"/>
              <a:ext cx="1760485" cy="444500"/>
            </a:xfrm>
            <a:prstGeom prst="rect">
              <a:avLst/>
            </a:prstGeom>
          </p:spPr>
          <p:txBody>
            <a:bodyPr anchor="ctr" rtlCol="false" tIns="50800" lIns="50800" bIns="50800" rIns="50800"/>
            <a:lstStyle/>
            <a:p>
              <a:pPr algn="ctr">
                <a:lnSpc>
                  <a:spcPts val="2240"/>
                </a:lnSpc>
              </a:pPr>
              <a:r>
                <a:rPr lang="en-US" sz="1600">
                  <a:solidFill>
                    <a:srgbClr val="000000"/>
                  </a:solidFill>
                  <a:latin typeface="TT Fors"/>
                  <a:ea typeface="TT Fors"/>
                  <a:cs typeface="TT Fors"/>
                  <a:sym typeface="TT Fors"/>
                </a:rPr>
                <a:t>Une DPIA, obligatoire selon l’article 35 du RGPD en cas de traitement présentant un risque élevé, </a:t>
              </a:r>
            </a:p>
            <a:p>
              <a:pPr algn="ctr">
                <a:lnSpc>
                  <a:spcPts val="2240"/>
                </a:lnSpc>
              </a:pPr>
              <a:r>
                <a:rPr lang="en-US" sz="1600">
                  <a:solidFill>
                    <a:srgbClr val="000000"/>
                  </a:solidFill>
                  <a:latin typeface="TT Fors"/>
                  <a:ea typeface="TT Fors"/>
                  <a:cs typeface="TT Fors"/>
                  <a:sym typeface="TT Fors"/>
                </a:rPr>
                <a:t>évalue les risques pour les données personnelles et prévoit des mesures de protection. </a:t>
              </a:r>
            </a:p>
            <a:p>
              <a:pPr algn="ctr">
                <a:lnSpc>
                  <a:spcPts val="2240"/>
                </a:lnSpc>
              </a:pPr>
              <a:r>
                <a:rPr lang="en-US" sz="1600">
                  <a:solidFill>
                    <a:srgbClr val="000000"/>
                  </a:solidFill>
                  <a:latin typeface="TT Fors"/>
                  <a:ea typeface="TT Fors"/>
                  <a:cs typeface="TT Fors"/>
                  <a:sym typeface="TT Fors"/>
                </a:rPr>
                <a:t>Elle contribue à la conformité, </a:t>
              </a:r>
            </a:p>
            <a:p>
              <a:pPr algn="ctr">
                <a:lnSpc>
                  <a:spcPts val="2240"/>
                </a:lnSpc>
              </a:pPr>
              <a:r>
                <a:rPr lang="en-US" sz="1600">
                  <a:solidFill>
                    <a:srgbClr val="000000"/>
                  </a:solidFill>
                  <a:latin typeface="TT Fors"/>
                  <a:ea typeface="TT Fors"/>
                  <a:cs typeface="TT Fors"/>
                  <a:sym typeface="TT Fors"/>
                </a:rPr>
                <a:t>à la prévention des violations et à l’évitement d’amendes pouvant atteindre 20 millions d’euros </a:t>
              </a:r>
            </a:p>
            <a:p>
              <a:pPr algn="ctr">
                <a:lnSpc>
                  <a:spcPts val="2240"/>
                </a:lnSpc>
              </a:pPr>
              <a:r>
                <a:rPr lang="en-US" sz="1600">
                  <a:solidFill>
                    <a:srgbClr val="000000"/>
                  </a:solidFill>
                  <a:latin typeface="TT Fors"/>
                  <a:ea typeface="TT Fors"/>
                  <a:cs typeface="TT Fors"/>
                  <a:sym typeface="TT Fors"/>
                </a:rPr>
                <a:t>ou 4 % du chiffre d’affaires annuel mondial.</a:t>
              </a:r>
            </a:p>
          </p:txBody>
        </p:sp>
      </p:grpSp>
      <p:sp>
        <p:nvSpPr>
          <p:cNvPr name="Freeform 21" id="21"/>
          <p:cNvSpPr/>
          <p:nvPr/>
        </p:nvSpPr>
        <p:spPr>
          <a:xfrm flipH="false" flipV="false" rot="0">
            <a:off x="1028700" y="3043560"/>
            <a:ext cx="6480026" cy="3323091"/>
          </a:xfrm>
          <a:custGeom>
            <a:avLst/>
            <a:gdLst/>
            <a:ahLst/>
            <a:cxnLst/>
            <a:rect r="r" b="b" t="t" l="l"/>
            <a:pathLst>
              <a:path h="3323091" w="6480026">
                <a:moveTo>
                  <a:pt x="0" y="0"/>
                </a:moveTo>
                <a:lnTo>
                  <a:pt x="6480026" y="0"/>
                </a:lnTo>
                <a:lnTo>
                  <a:pt x="6480026" y="3323091"/>
                </a:lnTo>
                <a:lnTo>
                  <a:pt x="0" y="3323091"/>
                </a:lnTo>
                <a:lnTo>
                  <a:pt x="0" y="0"/>
                </a:lnTo>
                <a:close/>
              </a:path>
            </a:pathLst>
          </a:custGeom>
          <a:blipFill>
            <a:blip r:embed="rId6"/>
            <a:stretch>
              <a:fillRect l="0" t="0" r="0" b="0"/>
            </a:stretch>
          </a:blipFill>
        </p:spPr>
      </p:sp>
      <p:sp>
        <p:nvSpPr>
          <p:cNvPr name="Freeform 22" id="22"/>
          <p:cNvSpPr/>
          <p:nvPr/>
        </p:nvSpPr>
        <p:spPr>
          <a:xfrm flipH="false" flipV="false" rot="0">
            <a:off x="10084787" y="2330702"/>
            <a:ext cx="7174513" cy="3847333"/>
          </a:xfrm>
          <a:custGeom>
            <a:avLst/>
            <a:gdLst/>
            <a:ahLst/>
            <a:cxnLst/>
            <a:rect r="r" b="b" t="t" l="l"/>
            <a:pathLst>
              <a:path h="3847333" w="7174513">
                <a:moveTo>
                  <a:pt x="0" y="0"/>
                </a:moveTo>
                <a:lnTo>
                  <a:pt x="7174513" y="0"/>
                </a:lnTo>
                <a:lnTo>
                  <a:pt x="7174513" y="3847333"/>
                </a:lnTo>
                <a:lnTo>
                  <a:pt x="0" y="3847333"/>
                </a:lnTo>
                <a:lnTo>
                  <a:pt x="0" y="0"/>
                </a:lnTo>
                <a:close/>
              </a:path>
            </a:pathLst>
          </a:custGeom>
          <a:blipFill>
            <a:blip r:embed="rId7"/>
            <a:stretch>
              <a:fillRect l="0" t="0" r="0" b="0"/>
            </a:stretch>
          </a:blipFill>
        </p:spPr>
      </p:sp>
      <p:sp>
        <p:nvSpPr>
          <p:cNvPr name="TextBox 23" id="23"/>
          <p:cNvSpPr txBox="true"/>
          <p:nvPr/>
        </p:nvSpPr>
        <p:spPr>
          <a:xfrm rot="0">
            <a:off x="1028700" y="1798820"/>
            <a:ext cx="7885705" cy="1244740"/>
          </a:xfrm>
          <a:prstGeom prst="rect">
            <a:avLst/>
          </a:prstGeom>
        </p:spPr>
        <p:txBody>
          <a:bodyPr anchor="t" rtlCol="false" tIns="0" lIns="0" bIns="0" rIns="0">
            <a:spAutoFit/>
          </a:bodyPr>
          <a:lstStyle/>
          <a:p>
            <a:pPr algn="l">
              <a:lnSpc>
                <a:spcPts val="9368"/>
              </a:lnSpc>
            </a:pPr>
            <a:r>
              <a:rPr lang="en-US" sz="9368" spc="-281" b="true">
                <a:solidFill>
                  <a:srgbClr val="5284FF"/>
                </a:solidFill>
                <a:latin typeface="Montserrat Bold"/>
                <a:ea typeface="Montserrat Bold"/>
                <a:cs typeface="Montserrat Bold"/>
                <a:sym typeface="Montserrat Bold"/>
              </a:rPr>
              <a:t>DPIA</a:t>
            </a:r>
          </a:p>
        </p:txBody>
      </p:sp>
      <p:sp>
        <p:nvSpPr>
          <p:cNvPr name="TextBox 24" id="24"/>
          <p:cNvSpPr txBox="true"/>
          <p:nvPr/>
        </p:nvSpPr>
        <p:spPr>
          <a:xfrm rot="0">
            <a:off x="15615098" y="707675"/>
            <a:ext cx="943167" cy="273685"/>
          </a:xfrm>
          <a:prstGeom prst="rect">
            <a:avLst/>
          </a:prstGeom>
        </p:spPr>
        <p:txBody>
          <a:bodyPr anchor="t" rtlCol="false" tIns="0" lIns="0" bIns="0" rIns="0">
            <a:spAutoFit/>
          </a:bodyPr>
          <a:lstStyle/>
          <a:p>
            <a:pPr algn="l">
              <a:lnSpc>
                <a:spcPts val="2240"/>
              </a:lnSpc>
            </a:pPr>
            <a:r>
              <a:rPr lang="en-US" sz="1600" b="true">
                <a:solidFill>
                  <a:srgbClr val="FFFFFF"/>
                </a:solidFill>
                <a:latin typeface="TT Fors Bold"/>
                <a:ea typeface="TT Fors Bold"/>
                <a:cs typeface="TT Fors Bold"/>
                <a:sym typeface="TT Fors Bold"/>
              </a:rPr>
              <a:t>Slide 04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9583" y="-233292"/>
            <a:ext cx="21507167" cy="10753583"/>
            <a:chOff x="0" y="0"/>
            <a:chExt cx="28676222" cy="14338111"/>
          </a:xfrm>
        </p:grpSpPr>
        <p:sp>
          <p:nvSpPr>
            <p:cNvPr name="Freeform 3" id="3"/>
            <p:cNvSpPr/>
            <p:nvPr/>
          </p:nvSpPr>
          <p:spPr>
            <a:xfrm flipH="false" flipV="false" rot="0">
              <a:off x="0" y="0"/>
              <a:ext cx="7169056" cy="7169056"/>
            </a:xfrm>
            <a:custGeom>
              <a:avLst/>
              <a:gdLst/>
              <a:ahLst/>
              <a:cxnLst/>
              <a:rect r="r" b="b" t="t" l="l"/>
              <a:pathLst>
                <a:path h="7169056" w="7169056">
                  <a:moveTo>
                    <a:pt x="0" y="0"/>
                  </a:moveTo>
                  <a:lnTo>
                    <a:pt x="7169056" y="0"/>
                  </a:lnTo>
                  <a:lnTo>
                    <a:pt x="7169056"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169056"/>
              <a:ext cx="7169056" cy="7169056"/>
            </a:xfrm>
            <a:custGeom>
              <a:avLst/>
              <a:gdLst/>
              <a:ahLst/>
              <a:cxnLst/>
              <a:rect r="r" b="b" t="t" l="l"/>
              <a:pathLst>
                <a:path h="7169056" w="7169056">
                  <a:moveTo>
                    <a:pt x="0" y="0"/>
                  </a:moveTo>
                  <a:lnTo>
                    <a:pt x="7169056" y="0"/>
                  </a:lnTo>
                  <a:lnTo>
                    <a:pt x="7169056"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7169056" y="0"/>
              <a:ext cx="7169056" cy="7169056"/>
            </a:xfrm>
            <a:custGeom>
              <a:avLst/>
              <a:gdLst/>
              <a:ahLst/>
              <a:cxnLst/>
              <a:rect r="r" b="b" t="t" l="l"/>
              <a:pathLst>
                <a:path h="7169056" w="7169056">
                  <a:moveTo>
                    <a:pt x="0" y="0"/>
                  </a:moveTo>
                  <a:lnTo>
                    <a:pt x="7169055" y="0"/>
                  </a:lnTo>
                  <a:lnTo>
                    <a:pt x="7169055"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169056" y="7169056"/>
              <a:ext cx="7169056" cy="7169056"/>
            </a:xfrm>
            <a:custGeom>
              <a:avLst/>
              <a:gdLst/>
              <a:ahLst/>
              <a:cxnLst/>
              <a:rect r="r" b="b" t="t" l="l"/>
              <a:pathLst>
                <a:path h="7169056" w="7169056">
                  <a:moveTo>
                    <a:pt x="0" y="0"/>
                  </a:moveTo>
                  <a:lnTo>
                    <a:pt x="7169055" y="0"/>
                  </a:lnTo>
                  <a:lnTo>
                    <a:pt x="7169055"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338111" y="0"/>
              <a:ext cx="7169056" cy="7169056"/>
            </a:xfrm>
            <a:custGeom>
              <a:avLst/>
              <a:gdLst/>
              <a:ahLst/>
              <a:cxnLst/>
              <a:rect r="r" b="b" t="t" l="l"/>
              <a:pathLst>
                <a:path h="7169056" w="7169056">
                  <a:moveTo>
                    <a:pt x="0" y="0"/>
                  </a:moveTo>
                  <a:lnTo>
                    <a:pt x="7169056" y="0"/>
                  </a:lnTo>
                  <a:lnTo>
                    <a:pt x="7169056"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4338111" y="7169056"/>
              <a:ext cx="7169056" cy="7169056"/>
            </a:xfrm>
            <a:custGeom>
              <a:avLst/>
              <a:gdLst/>
              <a:ahLst/>
              <a:cxnLst/>
              <a:rect r="r" b="b" t="t" l="l"/>
              <a:pathLst>
                <a:path h="7169056" w="7169056">
                  <a:moveTo>
                    <a:pt x="0" y="0"/>
                  </a:moveTo>
                  <a:lnTo>
                    <a:pt x="7169056" y="0"/>
                  </a:lnTo>
                  <a:lnTo>
                    <a:pt x="7169056"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507167" y="0"/>
              <a:ext cx="7169056" cy="7169056"/>
            </a:xfrm>
            <a:custGeom>
              <a:avLst/>
              <a:gdLst/>
              <a:ahLst/>
              <a:cxnLst/>
              <a:rect r="r" b="b" t="t" l="l"/>
              <a:pathLst>
                <a:path h="7169056" w="7169056">
                  <a:moveTo>
                    <a:pt x="0" y="0"/>
                  </a:moveTo>
                  <a:lnTo>
                    <a:pt x="7169055" y="0"/>
                  </a:lnTo>
                  <a:lnTo>
                    <a:pt x="7169055"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1507167" y="7169056"/>
              <a:ext cx="7169056" cy="7169056"/>
            </a:xfrm>
            <a:custGeom>
              <a:avLst/>
              <a:gdLst/>
              <a:ahLst/>
              <a:cxnLst/>
              <a:rect r="r" b="b" t="t" l="l"/>
              <a:pathLst>
                <a:path h="7169056" w="7169056">
                  <a:moveTo>
                    <a:pt x="0" y="0"/>
                  </a:moveTo>
                  <a:lnTo>
                    <a:pt x="7169055" y="0"/>
                  </a:lnTo>
                  <a:lnTo>
                    <a:pt x="7169055"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0" y="7278866"/>
            <a:ext cx="18288000" cy="3008134"/>
            <a:chOff x="0" y="0"/>
            <a:chExt cx="4816593" cy="792266"/>
          </a:xfrm>
        </p:grpSpPr>
        <p:sp>
          <p:nvSpPr>
            <p:cNvPr name="Freeform 12" id="12"/>
            <p:cNvSpPr/>
            <p:nvPr/>
          </p:nvSpPr>
          <p:spPr>
            <a:xfrm flipH="false" flipV="false" rot="0">
              <a:off x="0" y="0"/>
              <a:ext cx="4816592" cy="792266"/>
            </a:xfrm>
            <a:custGeom>
              <a:avLst/>
              <a:gdLst/>
              <a:ahLst/>
              <a:cxnLst/>
              <a:rect r="r" b="b" t="t" l="l"/>
              <a:pathLst>
                <a:path h="792266" w="4816592">
                  <a:moveTo>
                    <a:pt x="0" y="0"/>
                  </a:moveTo>
                  <a:lnTo>
                    <a:pt x="4816592" y="0"/>
                  </a:lnTo>
                  <a:lnTo>
                    <a:pt x="4816592" y="792266"/>
                  </a:lnTo>
                  <a:lnTo>
                    <a:pt x="0" y="792266"/>
                  </a:lnTo>
                  <a:close/>
                </a:path>
              </a:pathLst>
            </a:custGeom>
            <a:solidFill>
              <a:srgbClr val="5284FF"/>
            </a:solidFill>
          </p:spPr>
        </p:sp>
        <p:sp>
          <p:nvSpPr>
            <p:cNvPr name="TextBox 13" id="13"/>
            <p:cNvSpPr txBox="true"/>
            <p:nvPr/>
          </p:nvSpPr>
          <p:spPr>
            <a:xfrm>
              <a:off x="0" y="-38100"/>
              <a:ext cx="4816593" cy="830366"/>
            </a:xfrm>
            <a:prstGeom prst="rect">
              <a:avLst/>
            </a:prstGeom>
          </p:spPr>
          <p:txBody>
            <a:bodyPr anchor="ctr" rtlCol="false" tIns="50800" lIns="50800" bIns="50800" rIns="50800"/>
            <a:lstStyle/>
            <a:p>
              <a:pPr algn="ctr">
                <a:lnSpc>
                  <a:spcPts val="2240"/>
                </a:lnSpc>
              </a:pPr>
            </a:p>
          </p:txBody>
        </p:sp>
      </p:grpSp>
      <p:grpSp>
        <p:nvGrpSpPr>
          <p:cNvPr name="Group 14" id="14"/>
          <p:cNvGrpSpPr/>
          <p:nvPr/>
        </p:nvGrpSpPr>
        <p:grpSpPr>
          <a:xfrm rot="0">
            <a:off x="15274457" y="574006"/>
            <a:ext cx="1984843" cy="579122"/>
            <a:chOff x="0" y="0"/>
            <a:chExt cx="1392868" cy="406400"/>
          </a:xfrm>
        </p:grpSpPr>
        <p:sp>
          <p:nvSpPr>
            <p:cNvPr name="Freeform 15" id="15"/>
            <p:cNvSpPr/>
            <p:nvPr/>
          </p:nvSpPr>
          <p:spPr>
            <a:xfrm flipH="false" flipV="false" rot="0">
              <a:off x="0" y="0"/>
              <a:ext cx="1392868" cy="406400"/>
            </a:xfrm>
            <a:custGeom>
              <a:avLst/>
              <a:gdLst/>
              <a:ahLst/>
              <a:cxnLst/>
              <a:rect r="r" b="b" t="t" l="l"/>
              <a:pathLst>
                <a:path h="406400" w="1392868">
                  <a:moveTo>
                    <a:pt x="1189668" y="0"/>
                  </a:moveTo>
                  <a:cubicBezTo>
                    <a:pt x="1301892" y="0"/>
                    <a:pt x="1392868" y="90976"/>
                    <a:pt x="1392868" y="203200"/>
                  </a:cubicBezTo>
                  <a:cubicBezTo>
                    <a:pt x="1392868" y="315424"/>
                    <a:pt x="1301892" y="406400"/>
                    <a:pt x="1189668" y="406400"/>
                  </a:cubicBezTo>
                  <a:lnTo>
                    <a:pt x="203200" y="406400"/>
                  </a:lnTo>
                  <a:cubicBezTo>
                    <a:pt x="90976" y="406400"/>
                    <a:pt x="0" y="315424"/>
                    <a:pt x="0" y="203200"/>
                  </a:cubicBezTo>
                  <a:cubicBezTo>
                    <a:pt x="0" y="90976"/>
                    <a:pt x="90976" y="0"/>
                    <a:pt x="203200" y="0"/>
                  </a:cubicBezTo>
                  <a:close/>
                </a:path>
              </a:pathLst>
            </a:custGeom>
            <a:solidFill>
              <a:srgbClr val="5284FF"/>
            </a:solidFill>
          </p:spPr>
        </p:sp>
        <p:sp>
          <p:nvSpPr>
            <p:cNvPr name="TextBox 16" id="16"/>
            <p:cNvSpPr txBox="true"/>
            <p:nvPr/>
          </p:nvSpPr>
          <p:spPr>
            <a:xfrm>
              <a:off x="0" y="-38100"/>
              <a:ext cx="1392868" cy="444500"/>
            </a:xfrm>
            <a:prstGeom prst="rect">
              <a:avLst/>
            </a:prstGeom>
          </p:spPr>
          <p:txBody>
            <a:bodyPr anchor="ctr" rtlCol="false" tIns="50800" lIns="50800" bIns="50800" rIns="50800"/>
            <a:lstStyle/>
            <a:p>
              <a:pPr algn="ctr">
                <a:lnSpc>
                  <a:spcPts val="2240"/>
                </a:lnSpc>
              </a:pPr>
            </a:p>
          </p:txBody>
        </p:sp>
      </p:grpSp>
      <p:sp>
        <p:nvSpPr>
          <p:cNvPr name="Freeform 17" id="17"/>
          <p:cNvSpPr/>
          <p:nvPr/>
        </p:nvSpPr>
        <p:spPr>
          <a:xfrm flipH="false" flipV="false" rot="0">
            <a:off x="16577728" y="729265"/>
            <a:ext cx="467394" cy="267690"/>
          </a:xfrm>
          <a:custGeom>
            <a:avLst/>
            <a:gdLst/>
            <a:ahLst/>
            <a:cxnLst/>
            <a:rect r="r" b="b" t="t" l="l"/>
            <a:pathLst>
              <a:path h="267690" w="467394">
                <a:moveTo>
                  <a:pt x="0" y="0"/>
                </a:moveTo>
                <a:lnTo>
                  <a:pt x="467395" y="0"/>
                </a:lnTo>
                <a:lnTo>
                  <a:pt x="467395" y="267689"/>
                </a:lnTo>
                <a:lnTo>
                  <a:pt x="0" y="2676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8" id="18"/>
          <p:cNvGrpSpPr/>
          <p:nvPr/>
        </p:nvGrpSpPr>
        <p:grpSpPr>
          <a:xfrm rot="0">
            <a:off x="-1137059" y="6997103"/>
            <a:ext cx="12217224" cy="2820291"/>
            <a:chOff x="0" y="0"/>
            <a:chExt cx="1760485" cy="406400"/>
          </a:xfrm>
        </p:grpSpPr>
        <p:sp>
          <p:nvSpPr>
            <p:cNvPr name="Freeform 19" id="19"/>
            <p:cNvSpPr/>
            <p:nvPr/>
          </p:nvSpPr>
          <p:spPr>
            <a:xfrm flipH="false" flipV="false" rot="0">
              <a:off x="0" y="0"/>
              <a:ext cx="1760485" cy="406400"/>
            </a:xfrm>
            <a:custGeom>
              <a:avLst/>
              <a:gdLst/>
              <a:ahLst/>
              <a:cxnLst/>
              <a:rect r="r" b="b" t="t" l="l"/>
              <a:pathLst>
                <a:path h="406400" w="1760485">
                  <a:moveTo>
                    <a:pt x="1557285" y="0"/>
                  </a:moveTo>
                  <a:cubicBezTo>
                    <a:pt x="1669509" y="0"/>
                    <a:pt x="1760485" y="90976"/>
                    <a:pt x="1760485" y="203200"/>
                  </a:cubicBezTo>
                  <a:cubicBezTo>
                    <a:pt x="1760485" y="315424"/>
                    <a:pt x="1669509" y="406400"/>
                    <a:pt x="1557285" y="406400"/>
                  </a:cubicBezTo>
                  <a:lnTo>
                    <a:pt x="203200" y="406400"/>
                  </a:lnTo>
                  <a:cubicBezTo>
                    <a:pt x="90976" y="406400"/>
                    <a:pt x="0" y="315424"/>
                    <a:pt x="0" y="203200"/>
                  </a:cubicBezTo>
                  <a:cubicBezTo>
                    <a:pt x="0" y="90976"/>
                    <a:pt x="90976" y="0"/>
                    <a:pt x="203200" y="0"/>
                  </a:cubicBezTo>
                  <a:close/>
                </a:path>
              </a:pathLst>
            </a:custGeom>
            <a:solidFill>
              <a:srgbClr val="C2DCFF"/>
            </a:solidFill>
          </p:spPr>
        </p:sp>
        <p:sp>
          <p:nvSpPr>
            <p:cNvPr name="TextBox 20" id="20"/>
            <p:cNvSpPr txBox="true"/>
            <p:nvPr/>
          </p:nvSpPr>
          <p:spPr>
            <a:xfrm>
              <a:off x="0" y="-38100"/>
              <a:ext cx="1760485" cy="444500"/>
            </a:xfrm>
            <a:prstGeom prst="rect">
              <a:avLst/>
            </a:prstGeom>
          </p:spPr>
          <p:txBody>
            <a:bodyPr anchor="ctr" rtlCol="false" tIns="50800" lIns="50800" bIns="50800" rIns="50800"/>
            <a:lstStyle/>
            <a:p>
              <a:pPr algn="ctr" marL="345441" indent="-172721" lvl="1">
                <a:lnSpc>
                  <a:spcPts val="2240"/>
                </a:lnSpc>
                <a:buFont typeface="Arial"/>
                <a:buChar char="•"/>
              </a:pPr>
              <a:r>
                <a:rPr lang="en-US" sz="1600">
                  <a:solidFill>
                    <a:srgbClr val="000000"/>
                  </a:solidFill>
                  <a:latin typeface="TT Fors"/>
                  <a:ea typeface="TT Fors"/>
                  <a:cs typeface="TT Fors"/>
                  <a:sym typeface="TT Fors"/>
                </a:rPr>
                <a:t>L’entreprise à mis en œuvre le un traitement de données personnelles.</a:t>
              </a:r>
            </a:p>
            <a:p>
              <a:pPr algn="ctr" marL="345441" indent="-172721" lvl="1">
                <a:lnSpc>
                  <a:spcPts val="2240"/>
                </a:lnSpc>
                <a:buFont typeface="Arial"/>
                <a:buChar char="•"/>
              </a:pPr>
              <a:r>
                <a:rPr lang="en-US" sz="1600">
                  <a:solidFill>
                    <a:srgbClr val="000000"/>
                  </a:solidFill>
                  <a:latin typeface="TT Fors"/>
                  <a:ea typeface="TT Fors"/>
                  <a:cs typeface="TT Fors"/>
                  <a:sym typeface="TT Fors"/>
                </a:rPr>
                <a:t>Ces données ont fait l’objet d'une violation </a:t>
              </a:r>
            </a:p>
            <a:p>
              <a:pPr algn="ctr" marL="345441" indent="-172721" lvl="1">
                <a:lnSpc>
                  <a:spcPts val="2240"/>
                </a:lnSpc>
                <a:buFont typeface="Arial"/>
                <a:buChar char="•"/>
              </a:pPr>
              <a:r>
                <a:rPr lang="en-US" sz="1600">
                  <a:solidFill>
                    <a:srgbClr val="000000"/>
                  </a:solidFill>
                  <a:latin typeface="TT Fors"/>
                  <a:ea typeface="TT Fors"/>
                  <a:cs typeface="TT Fors"/>
                  <a:sym typeface="TT Fors"/>
                </a:rPr>
                <a:t>(perte de disponibilité, d’intégrité ou de confidentialité de données personnelles,</a:t>
              </a:r>
            </a:p>
            <a:p>
              <a:pPr algn="ctr" marL="345441" indent="-172721" lvl="1">
                <a:lnSpc>
                  <a:spcPts val="2240"/>
                </a:lnSpc>
                <a:buFont typeface="Arial"/>
                <a:buChar char="•"/>
              </a:pPr>
              <a:r>
                <a:rPr lang="en-US" sz="1600">
                  <a:solidFill>
                    <a:srgbClr val="000000"/>
                  </a:solidFill>
                  <a:latin typeface="TT Fors"/>
                  <a:ea typeface="TT Fors"/>
                  <a:cs typeface="TT Fors"/>
                  <a:sym typeface="TT Fors"/>
                </a:rPr>
                <a:t>de manière accidentelle ou illicite).</a:t>
              </a:r>
            </a:p>
            <a:p>
              <a:pPr algn="ctr">
                <a:lnSpc>
                  <a:spcPts val="2240"/>
                </a:lnSpc>
              </a:pPr>
            </a:p>
          </p:txBody>
        </p:sp>
      </p:grpSp>
      <p:sp>
        <p:nvSpPr>
          <p:cNvPr name="Freeform 21" id="21"/>
          <p:cNvSpPr/>
          <p:nvPr/>
        </p:nvSpPr>
        <p:spPr>
          <a:xfrm flipH="false" flipV="false" rot="0">
            <a:off x="11645784" y="1912141"/>
            <a:ext cx="5165641" cy="5259420"/>
          </a:xfrm>
          <a:custGeom>
            <a:avLst/>
            <a:gdLst/>
            <a:ahLst/>
            <a:cxnLst/>
            <a:rect r="r" b="b" t="t" l="l"/>
            <a:pathLst>
              <a:path h="5259420" w="5165641">
                <a:moveTo>
                  <a:pt x="0" y="0"/>
                </a:moveTo>
                <a:lnTo>
                  <a:pt x="5165641" y="0"/>
                </a:lnTo>
                <a:lnTo>
                  <a:pt x="5165641" y="5259420"/>
                </a:lnTo>
                <a:lnTo>
                  <a:pt x="0" y="5259420"/>
                </a:lnTo>
                <a:lnTo>
                  <a:pt x="0" y="0"/>
                </a:lnTo>
                <a:close/>
              </a:path>
            </a:pathLst>
          </a:custGeom>
          <a:blipFill>
            <a:blip r:embed="rId6"/>
            <a:stretch>
              <a:fillRect l="0" t="0" r="0" b="0"/>
            </a:stretch>
          </a:blipFill>
        </p:spPr>
      </p:sp>
      <p:sp>
        <p:nvSpPr>
          <p:cNvPr name="TextBox 22" id="22"/>
          <p:cNvSpPr txBox="true"/>
          <p:nvPr/>
        </p:nvSpPr>
        <p:spPr>
          <a:xfrm rot="0">
            <a:off x="1028700" y="1798820"/>
            <a:ext cx="7885705" cy="1244740"/>
          </a:xfrm>
          <a:prstGeom prst="rect">
            <a:avLst/>
          </a:prstGeom>
        </p:spPr>
        <p:txBody>
          <a:bodyPr anchor="t" rtlCol="false" tIns="0" lIns="0" bIns="0" rIns="0">
            <a:spAutoFit/>
          </a:bodyPr>
          <a:lstStyle/>
          <a:p>
            <a:pPr algn="l">
              <a:lnSpc>
                <a:spcPts val="9368"/>
              </a:lnSpc>
            </a:pPr>
            <a:r>
              <a:rPr lang="en-US" sz="9368" spc="-281" b="true">
                <a:solidFill>
                  <a:srgbClr val="5284FF"/>
                </a:solidFill>
                <a:latin typeface="Montserrat Bold"/>
                <a:ea typeface="Montserrat Bold"/>
                <a:cs typeface="Montserrat Bold"/>
                <a:sym typeface="Montserrat Bold"/>
              </a:rPr>
              <a:t>Incident</a:t>
            </a:r>
          </a:p>
        </p:txBody>
      </p:sp>
      <p:sp>
        <p:nvSpPr>
          <p:cNvPr name="TextBox 23" id="23"/>
          <p:cNvSpPr txBox="true"/>
          <p:nvPr/>
        </p:nvSpPr>
        <p:spPr>
          <a:xfrm rot="0">
            <a:off x="15615098" y="707675"/>
            <a:ext cx="943167" cy="273649"/>
          </a:xfrm>
          <a:prstGeom prst="rect">
            <a:avLst/>
          </a:prstGeom>
        </p:spPr>
        <p:txBody>
          <a:bodyPr anchor="t" rtlCol="false" tIns="0" lIns="0" bIns="0" rIns="0">
            <a:spAutoFit/>
          </a:bodyPr>
          <a:lstStyle/>
          <a:p>
            <a:pPr algn="l">
              <a:lnSpc>
                <a:spcPts val="2240"/>
              </a:lnSpc>
            </a:pPr>
            <a:r>
              <a:rPr lang="en-US" sz="1600" b="true">
                <a:solidFill>
                  <a:srgbClr val="FFFFFF"/>
                </a:solidFill>
                <a:latin typeface="TT Fors Bold"/>
                <a:ea typeface="TT Fors Bold"/>
                <a:cs typeface="TT Fors Bold"/>
                <a:sym typeface="TT Fors Bold"/>
              </a:rPr>
              <a:t>Slide 05</a:t>
            </a:r>
          </a:p>
        </p:txBody>
      </p:sp>
      <p:sp>
        <p:nvSpPr>
          <p:cNvPr name="TextBox 24" id="24"/>
          <p:cNvSpPr txBox="true"/>
          <p:nvPr/>
        </p:nvSpPr>
        <p:spPr>
          <a:xfrm rot="0">
            <a:off x="1780069" y="3762308"/>
            <a:ext cx="5786532" cy="2759710"/>
          </a:xfrm>
          <a:prstGeom prst="rect">
            <a:avLst/>
          </a:prstGeom>
        </p:spPr>
        <p:txBody>
          <a:bodyPr anchor="t" rtlCol="false" tIns="0" lIns="0" bIns="0" rIns="0">
            <a:spAutoFit/>
          </a:bodyPr>
          <a:lstStyle/>
          <a:p>
            <a:pPr algn="ctr">
              <a:lnSpc>
                <a:spcPts val="2240"/>
              </a:lnSpc>
              <a:spcBef>
                <a:spcPct val="0"/>
              </a:spcBef>
            </a:pPr>
            <a:r>
              <a:rPr lang="en-US" sz="1600">
                <a:solidFill>
                  <a:srgbClr val="000000"/>
                </a:solidFill>
                <a:latin typeface="TT Fors"/>
                <a:ea typeface="TT Fors"/>
                <a:cs typeface="TT Fors"/>
                <a:sym typeface="TT Fors"/>
              </a:rPr>
              <a:t>La nature de la violation</a:t>
            </a:r>
          </a:p>
          <a:p>
            <a:pPr algn="ctr">
              <a:lnSpc>
                <a:spcPts val="2240"/>
              </a:lnSpc>
              <a:spcBef>
                <a:spcPct val="0"/>
              </a:spcBef>
            </a:pPr>
            <a:r>
              <a:rPr lang="en-US" sz="1600">
                <a:solidFill>
                  <a:srgbClr val="000000"/>
                </a:solidFill>
                <a:latin typeface="TT Fors"/>
                <a:ea typeface="TT Fors"/>
                <a:cs typeface="TT Fors"/>
                <a:sym typeface="TT Fors"/>
              </a:rPr>
              <a:t>Si possible, les catégories et le nombre approximatif de personnes concernées par la violation</a:t>
            </a:r>
          </a:p>
          <a:p>
            <a:pPr algn="ctr">
              <a:lnSpc>
                <a:spcPts val="2240"/>
              </a:lnSpc>
              <a:spcBef>
                <a:spcPct val="0"/>
              </a:spcBef>
            </a:pPr>
            <a:r>
              <a:rPr lang="en-US" sz="1600">
                <a:solidFill>
                  <a:srgbClr val="000000"/>
                </a:solidFill>
                <a:latin typeface="TT Fors"/>
                <a:ea typeface="TT Fors"/>
                <a:cs typeface="TT Fors"/>
                <a:sym typeface="TT Fors"/>
              </a:rPr>
              <a:t>Les catégories et le nombre approximatif d'enregistrements de données à caractère personnel concernés;</a:t>
            </a:r>
          </a:p>
          <a:p>
            <a:pPr algn="ctr">
              <a:lnSpc>
                <a:spcPts val="2240"/>
              </a:lnSpc>
              <a:spcBef>
                <a:spcPct val="0"/>
              </a:spcBef>
            </a:pPr>
            <a:r>
              <a:rPr lang="en-US" sz="1600">
                <a:solidFill>
                  <a:srgbClr val="000000"/>
                </a:solidFill>
                <a:latin typeface="TT Fors"/>
                <a:ea typeface="TT Fors"/>
                <a:cs typeface="TT Fors"/>
                <a:sym typeface="TT Fors"/>
              </a:rPr>
              <a:t>Décrire les conséquences probables de la violation de données ;</a:t>
            </a:r>
          </a:p>
          <a:p>
            <a:pPr algn="ctr">
              <a:lnSpc>
                <a:spcPts val="2240"/>
              </a:lnSpc>
              <a:spcBef>
                <a:spcPct val="0"/>
              </a:spcBef>
            </a:pPr>
            <a:r>
              <a:rPr lang="en-US" sz="1600">
                <a:solidFill>
                  <a:srgbClr val="000000"/>
                </a:solidFill>
                <a:latin typeface="TT Fors"/>
                <a:ea typeface="TT Fors"/>
                <a:cs typeface="TT Fors"/>
                <a:sym typeface="TT Fors"/>
              </a:rPr>
              <a:t>Décrire les mesures prises ou que vous envisagez de prendre pour éviter que cet incident se reproduise ou atténuer les éventuelles conséquences négatives.</a:t>
            </a:r>
          </a:p>
        </p:txBody>
      </p:sp>
      <p:sp>
        <p:nvSpPr>
          <p:cNvPr name="TextBox 25" id="25"/>
          <p:cNvSpPr txBox="true"/>
          <p:nvPr/>
        </p:nvSpPr>
        <p:spPr>
          <a:xfrm rot="0">
            <a:off x="1780069" y="3214339"/>
            <a:ext cx="5642897" cy="481965"/>
          </a:xfrm>
          <a:prstGeom prst="rect">
            <a:avLst/>
          </a:prstGeom>
        </p:spPr>
        <p:txBody>
          <a:bodyPr anchor="t" rtlCol="false" tIns="0" lIns="0" bIns="0" rIns="0">
            <a:spAutoFit/>
          </a:bodyPr>
          <a:lstStyle/>
          <a:p>
            <a:pPr algn="l">
              <a:lnSpc>
                <a:spcPts val="3600"/>
              </a:lnSpc>
            </a:pPr>
            <a:r>
              <a:rPr lang="en-US" sz="3600" spc="-108" b="true">
                <a:solidFill>
                  <a:srgbClr val="5284FF"/>
                </a:solidFill>
                <a:latin typeface="Montserrat Bold"/>
                <a:ea typeface="Montserrat Bold"/>
                <a:cs typeface="Montserrat Bold"/>
                <a:sym typeface="Montserrat Bold"/>
              </a:rPr>
              <a:t>Ce qu’il faut documenter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9583" y="-233292"/>
            <a:ext cx="21507167" cy="10753583"/>
            <a:chOff x="0" y="0"/>
            <a:chExt cx="28676222" cy="14338111"/>
          </a:xfrm>
        </p:grpSpPr>
        <p:sp>
          <p:nvSpPr>
            <p:cNvPr name="Freeform 3" id="3"/>
            <p:cNvSpPr/>
            <p:nvPr/>
          </p:nvSpPr>
          <p:spPr>
            <a:xfrm flipH="false" flipV="false" rot="0">
              <a:off x="0" y="0"/>
              <a:ext cx="7169056" cy="7169056"/>
            </a:xfrm>
            <a:custGeom>
              <a:avLst/>
              <a:gdLst/>
              <a:ahLst/>
              <a:cxnLst/>
              <a:rect r="r" b="b" t="t" l="l"/>
              <a:pathLst>
                <a:path h="7169056" w="7169056">
                  <a:moveTo>
                    <a:pt x="0" y="0"/>
                  </a:moveTo>
                  <a:lnTo>
                    <a:pt x="7169056" y="0"/>
                  </a:lnTo>
                  <a:lnTo>
                    <a:pt x="7169056"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169056"/>
              <a:ext cx="7169056" cy="7169056"/>
            </a:xfrm>
            <a:custGeom>
              <a:avLst/>
              <a:gdLst/>
              <a:ahLst/>
              <a:cxnLst/>
              <a:rect r="r" b="b" t="t" l="l"/>
              <a:pathLst>
                <a:path h="7169056" w="7169056">
                  <a:moveTo>
                    <a:pt x="0" y="0"/>
                  </a:moveTo>
                  <a:lnTo>
                    <a:pt x="7169056" y="0"/>
                  </a:lnTo>
                  <a:lnTo>
                    <a:pt x="7169056"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7169056" y="0"/>
              <a:ext cx="7169056" cy="7169056"/>
            </a:xfrm>
            <a:custGeom>
              <a:avLst/>
              <a:gdLst/>
              <a:ahLst/>
              <a:cxnLst/>
              <a:rect r="r" b="b" t="t" l="l"/>
              <a:pathLst>
                <a:path h="7169056" w="7169056">
                  <a:moveTo>
                    <a:pt x="0" y="0"/>
                  </a:moveTo>
                  <a:lnTo>
                    <a:pt x="7169055" y="0"/>
                  </a:lnTo>
                  <a:lnTo>
                    <a:pt x="7169055"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169056" y="7169056"/>
              <a:ext cx="7169056" cy="7169056"/>
            </a:xfrm>
            <a:custGeom>
              <a:avLst/>
              <a:gdLst/>
              <a:ahLst/>
              <a:cxnLst/>
              <a:rect r="r" b="b" t="t" l="l"/>
              <a:pathLst>
                <a:path h="7169056" w="7169056">
                  <a:moveTo>
                    <a:pt x="0" y="0"/>
                  </a:moveTo>
                  <a:lnTo>
                    <a:pt x="7169055" y="0"/>
                  </a:lnTo>
                  <a:lnTo>
                    <a:pt x="7169055"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338111" y="0"/>
              <a:ext cx="7169056" cy="7169056"/>
            </a:xfrm>
            <a:custGeom>
              <a:avLst/>
              <a:gdLst/>
              <a:ahLst/>
              <a:cxnLst/>
              <a:rect r="r" b="b" t="t" l="l"/>
              <a:pathLst>
                <a:path h="7169056" w="7169056">
                  <a:moveTo>
                    <a:pt x="0" y="0"/>
                  </a:moveTo>
                  <a:lnTo>
                    <a:pt x="7169056" y="0"/>
                  </a:lnTo>
                  <a:lnTo>
                    <a:pt x="7169056"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4338111" y="7169056"/>
              <a:ext cx="7169056" cy="7169056"/>
            </a:xfrm>
            <a:custGeom>
              <a:avLst/>
              <a:gdLst/>
              <a:ahLst/>
              <a:cxnLst/>
              <a:rect r="r" b="b" t="t" l="l"/>
              <a:pathLst>
                <a:path h="7169056" w="7169056">
                  <a:moveTo>
                    <a:pt x="0" y="0"/>
                  </a:moveTo>
                  <a:lnTo>
                    <a:pt x="7169056" y="0"/>
                  </a:lnTo>
                  <a:lnTo>
                    <a:pt x="7169056"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507167" y="0"/>
              <a:ext cx="7169056" cy="7169056"/>
            </a:xfrm>
            <a:custGeom>
              <a:avLst/>
              <a:gdLst/>
              <a:ahLst/>
              <a:cxnLst/>
              <a:rect r="r" b="b" t="t" l="l"/>
              <a:pathLst>
                <a:path h="7169056" w="7169056">
                  <a:moveTo>
                    <a:pt x="0" y="0"/>
                  </a:moveTo>
                  <a:lnTo>
                    <a:pt x="7169055" y="0"/>
                  </a:lnTo>
                  <a:lnTo>
                    <a:pt x="7169055"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1507167" y="7169056"/>
              <a:ext cx="7169056" cy="7169056"/>
            </a:xfrm>
            <a:custGeom>
              <a:avLst/>
              <a:gdLst/>
              <a:ahLst/>
              <a:cxnLst/>
              <a:rect r="r" b="b" t="t" l="l"/>
              <a:pathLst>
                <a:path h="7169056" w="7169056">
                  <a:moveTo>
                    <a:pt x="0" y="0"/>
                  </a:moveTo>
                  <a:lnTo>
                    <a:pt x="7169055" y="0"/>
                  </a:lnTo>
                  <a:lnTo>
                    <a:pt x="7169055"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0" y="7278866"/>
            <a:ext cx="18288000" cy="3008134"/>
            <a:chOff x="0" y="0"/>
            <a:chExt cx="4816593" cy="792266"/>
          </a:xfrm>
        </p:grpSpPr>
        <p:sp>
          <p:nvSpPr>
            <p:cNvPr name="Freeform 12" id="12"/>
            <p:cNvSpPr/>
            <p:nvPr/>
          </p:nvSpPr>
          <p:spPr>
            <a:xfrm flipH="false" flipV="false" rot="0">
              <a:off x="0" y="0"/>
              <a:ext cx="4816592" cy="792266"/>
            </a:xfrm>
            <a:custGeom>
              <a:avLst/>
              <a:gdLst/>
              <a:ahLst/>
              <a:cxnLst/>
              <a:rect r="r" b="b" t="t" l="l"/>
              <a:pathLst>
                <a:path h="792266" w="4816592">
                  <a:moveTo>
                    <a:pt x="0" y="0"/>
                  </a:moveTo>
                  <a:lnTo>
                    <a:pt x="4816592" y="0"/>
                  </a:lnTo>
                  <a:lnTo>
                    <a:pt x="4816592" y="792266"/>
                  </a:lnTo>
                  <a:lnTo>
                    <a:pt x="0" y="792266"/>
                  </a:lnTo>
                  <a:close/>
                </a:path>
              </a:pathLst>
            </a:custGeom>
            <a:solidFill>
              <a:srgbClr val="5284FF"/>
            </a:solidFill>
          </p:spPr>
        </p:sp>
        <p:sp>
          <p:nvSpPr>
            <p:cNvPr name="TextBox 13" id="13"/>
            <p:cNvSpPr txBox="true"/>
            <p:nvPr/>
          </p:nvSpPr>
          <p:spPr>
            <a:xfrm>
              <a:off x="0" y="-38100"/>
              <a:ext cx="4816593" cy="830366"/>
            </a:xfrm>
            <a:prstGeom prst="rect">
              <a:avLst/>
            </a:prstGeom>
          </p:spPr>
          <p:txBody>
            <a:bodyPr anchor="ctr" rtlCol="false" tIns="50800" lIns="50800" bIns="50800" rIns="50800"/>
            <a:lstStyle/>
            <a:p>
              <a:pPr algn="ctr">
                <a:lnSpc>
                  <a:spcPts val="2240"/>
                </a:lnSpc>
              </a:pPr>
            </a:p>
          </p:txBody>
        </p:sp>
      </p:grpSp>
      <p:grpSp>
        <p:nvGrpSpPr>
          <p:cNvPr name="Group 14" id="14"/>
          <p:cNvGrpSpPr/>
          <p:nvPr/>
        </p:nvGrpSpPr>
        <p:grpSpPr>
          <a:xfrm rot="0">
            <a:off x="15274457" y="574006"/>
            <a:ext cx="1984843" cy="579122"/>
            <a:chOff x="0" y="0"/>
            <a:chExt cx="1392868" cy="406400"/>
          </a:xfrm>
        </p:grpSpPr>
        <p:sp>
          <p:nvSpPr>
            <p:cNvPr name="Freeform 15" id="15"/>
            <p:cNvSpPr/>
            <p:nvPr/>
          </p:nvSpPr>
          <p:spPr>
            <a:xfrm flipH="false" flipV="false" rot="0">
              <a:off x="0" y="0"/>
              <a:ext cx="1392868" cy="406400"/>
            </a:xfrm>
            <a:custGeom>
              <a:avLst/>
              <a:gdLst/>
              <a:ahLst/>
              <a:cxnLst/>
              <a:rect r="r" b="b" t="t" l="l"/>
              <a:pathLst>
                <a:path h="406400" w="1392868">
                  <a:moveTo>
                    <a:pt x="1189668" y="0"/>
                  </a:moveTo>
                  <a:cubicBezTo>
                    <a:pt x="1301892" y="0"/>
                    <a:pt x="1392868" y="90976"/>
                    <a:pt x="1392868" y="203200"/>
                  </a:cubicBezTo>
                  <a:cubicBezTo>
                    <a:pt x="1392868" y="315424"/>
                    <a:pt x="1301892" y="406400"/>
                    <a:pt x="1189668" y="406400"/>
                  </a:cubicBezTo>
                  <a:lnTo>
                    <a:pt x="203200" y="406400"/>
                  </a:lnTo>
                  <a:cubicBezTo>
                    <a:pt x="90976" y="406400"/>
                    <a:pt x="0" y="315424"/>
                    <a:pt x="0" y="203200"/>
                  </a:cubicBezTo>
                  <a:cubicBezTo>
                    <a:pt x="0" y="90976"/>
                    <a:pt x="90976" y="0"/>
                    <a:pt x="203200" y="0"/>
                  </a:cubicBezTo>
                  <a:close/>
                </a:path>
              </a:pathLst>
            </a:custGeom>
            <a:solidFill>
              <a:srgbClr val="5284FF"/>
            </a:solidFill>
          </p:spPr>
        </p:sp>
        <p:sp>
          <p:nvSpPr>
            <p:cNvPr name="TextBox 16" id="16"/>
            <p:cNvSpPr txBox="true"/>
            <p:nvPr/>
          </p:nvSpPr>
          <p:spPr>
            <a:xfrm>
              <a:off x="0" y="-38100"/>
              <a:ext cx="1392868" cy="444500"/>
            </a:xfrm>
            <a:prstGeom prst="rect">
              <a:avLst/>
            </a:prstGeom>
          </p:spPr>
          <p:txBody>
            <a:bodyPr anchor="ctr" rtlCol="false" tIns="50800" lIns="50800" bIns="50800" rIns="50800"/>
            <a:lstStyle/>
            <a:p>
              <a:pPr algn="ctr">
                <a:lnSpc>
                  <a:spcPts val="2240"/>
                </a:lnSpc>
              </a:pPr>
            </a:p>
          </p:txBody>
        </p:sp>
      </p:grpSp>
      <p:sp>
        <p:nvSpPr>
          <p:cNvPr name="Freeform 17" id="17"/>
          <p:cNvSpPr/>
          <p:nvPr/>
        </p:nvSpPr>
        <p:spPr>
          <a:xfrm flipH="false" flipV="false" rot="0">
            <a:off x="16577728" y="729265"/>
            <a:ext cx="467394" cy="267690"/>
          </a:xfrm>
          <a:custGeom>
            <a:avLst/>
            <a:gdLst/>
            <a:ahLst/>
            <a:cxnLst/>
            <a:rect r="r" b="b" t="t" l="l"/>
            <a:pathLst>
              <a:path h="267690" w="467394">
                <a:moveTo>
                  <a:pt x="0" y="0"/>
                </a:moveTo>
                <a:lnTo>
                  <a:pt x="467395" y="0"/>
                </a:lnTo>
                <a:lnTo>
                  <a:pt x="467395" y="267689"/>
                </a:lnTo>
                <a:lnTo>
                  <a:pt x="0" y="2676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Object 18" id="18"/>
          <p:cNvGraphicFramePr/>
          <p:nvPr/>
        </p:nvGraphicFramePr>
        <p:xfrm>
          <a:off x="0" y="0"/>
          <a:ext cx="12390312" cy="8229600"/>
        </p:xfrm>
        <a:graphic>
          <a:graphicData uri="http://schemas.openxmlformats.org/presentationml/2006/ole">
            <p:oleObj imgW="14859000" imgH="107061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19" id="19"/>
          <p:cNvSpPr txBox="true"/>
          <p:nvPr/>
        </p:nvSpPr>
        <p:spPr>
          <a:xfrm rot="0">
            <a:off x="10807159" y="2422229"/>
            <a:ext cx="7983284" cy="1046179"/>
          </a:xfrm>
          <a:prstGeom prst="rect">
            <a:avLst/>
          </a:prstGeom>
        </p:spPr>
        <p:txBody>
          <a:bodyPr anchor="t" rtlCol="false" tIns="0" lIns="0" bIns="0" rIns="0">
            <a:spAutoFit/>
          </a:bodyPr>
          <a:lstStyle/>
          <a:p>
            <a:pPr algn="l">
              <a:lnSpc>
                <a:spcPts val="7813"/>
              </a:lnSpc>
            </a:pPr>
            <a:r>
              <a:rPr lang="en-US" sz="7813" spc="-234" b="true">
                <a:solidFill>
                  <a:srgbClr val="5284FF"/>
                </a:solidFill>
                <a:latin typeface="Montserrat Bold"/>
                <a:ea typeface="Montserrat Bold"/>
                <a:cs typeface="Montserrat Bold"/>
                <a:sym typeface="Montserrat Bold"/>
              </a:rPr>
              <a:t>Audit RGPD</a:t>
            </a:r>
          </a:p>
        </p:txBody>
      </p:sp>
      <p:sp>
        <p:nvSpPr>
          <p:cNvPr name="TextBox 20" id="20"/>
          <p:cNvSpPr txBox="true"/>
          <p:nvPr/>
        </p:nvSpPr>
        <p:spPr>
          <a:xfrm rot="0">
            <a:off x="15615098" y="707675"/>
            <a:ext cx="943167" cy="273649"/>
          </a:xfrm>
          <a:prstGeom prst="rect">
            <a:avLst/>
          </a:prstGeom>
        </p:spPr>
        <p:txBody>
          <a:bodyPr anchor="t" rtlCol="false" tIns="0" lIns="0" bIns="0" rIns="0">
            <a:spAutoFit/>
          </a:bodyPr>
          <a:lstStyle/>
          <a:p>
            <a:pPr algn="l">
              <a:lnSpc>
                <a:spcPts val="2240"/>
              </a:lnSpc>
            </a:pPr>
            <a:r>
              <a:rPr lang="en-US" sz="1600" b="true">
                <a:solidFill>
                  <a:srgbClr val="FFFFFF"/>
                </a:solidFill>
                <a:latin typeface="TT Fors Bold"/>
                <a:ea typeface="TT Fors Bold"/>
                <a:cs typeface="TT Fors Bold"/>
                <a:sym typeface="TT Fors Bold"/>
              </a:rPr>
              <a:t>Slide 06</a:t>
            </a:r>
          </a:p>
        </p:txBody>
      </p:sp>
      <p:sp>
        <p:nvSpPr>
          <p:cNvPr name="TextBox 21" id="21"/>
          <p:cNvSpPr txBox="true"/>
          <p:nvPr/>
        </p:nvSpPr>
        <p:spPr>
          <a:xfrm rot="0">
            <a:off x="10805927" y="5796441"/>
            <a:ext cx="7640542" cy="356199"/>
          </a:xfrm>
          <a:prstGeom prst="rect">
            <a:avLst/>
          </a:prstGeom>
        </p:spPr>
        <p:txBody>
          <a:bodyPr anchor="t" rtlCol="false" tIns="0" lIns="0" bIns="0" rIns="0">
            <a:spAutoFit/>
          </a:bodyPr>
          <a:lstStyle/>
          <a:p>
            <a:pPr algn="just">
              <a:lnSpc>
                <a:spcPts val="2940"/>
              </a:lnSpc>
            </a:pPr>
            <a:r>
              <a:rPr lang="en-US" sz="2100" spc="-63">
                <a:solidFill>
                  <a:srgbClr val="000000"/>
                </a:solidFill>
                <a:latin typeface="TT Fors"/>
                <a:ea typeface="TT Fors"/>
                <a:cs typeface="TT Fors"/>
                <a:sym typeface="TT Fors"/>
              </a:rPr>
              <a:t>Recenser l’ensemble des traitements de l’organisation</a:t>
            </a:r>
          </a:p>
        </p:txBody>
      </p:sp>
      <p:sp>
        <p:nvSpPr>
          <p:cNvPr name="TextBox 22" id="22"/>
          <p:cNvSpPr txBox="true"/>
          <p:nvPr/>
        </p:nvSpPr>
        <p:spPr>
          <a:xfrm rot="0">
            <a:off x="10805927" y="3516072"/>
            <a:ext cx="7640542" cy="1841954"/>
          </a:xfrm>
          <a:prstGeom prst="rect">
            <a:avLst/>
          </a:prstGeom>
        </p:spPr>
        <p:txBody>
          <a:bodyPr anchor="t" rtlCol="false" tIns="0" lIns="0" bIns="0" rIns="0">
            <a:spAutoFit/>
          </a:bodyPr>
          <a:lstStyle/>
          <a:p>
            <a:pPr algn="just">
              <a:lnSpc>
                <a:spcPts val="2940"/>
              </a:lnSpc>
            </a:pPr>
            <a:r>
              <a:rPr lang="en-US" sz="2100" spc="-63">
                <a:solidFill>
                  <a:srgbClr val="000000"/>
                </a:solidFill>
                <a:latin typeface="TT Fors"/>
                <a:ea typeface="TT Fors"/>
                <a:cs typeface="TT Fors"/>
                <a:sym typeface="TT Fors"/>
              </a:rPr>
              <a:t>4 grands domaines</a:t>
            </a:r>
          </a:p>
          <a:p>
            <a:pPr algn="just">
              <a:lnSpc>
                <a:spcPts val="2940"/>
              </a:lnSpc>
            </a:pPr>
            <a:r>
              <a:rPr lang="en-US" sz="2100" spc="-63">
                <a:solidFill>
                  <a:srgbClr val="000000"/>
                </a:solidFill>
                <a:latin typeface="TT Fors"/>
                <a:ea typeface="TT Fors"/>
                <a:cs typeface="TT Fors"/>
                <a:sym typeface="TT Fors"/>
              </a:rPr>
              <a:t>La gouvernance</a:t>
            </a:r>
          </a:p>
          <a:p>
            <a:pPr algn="just">
              <a:lnSpc>
                <a:spcPts val="2940"/>
              </a:lnSpc>
            </a:pPr>
            <a:r>
              <a:rPr lang="en-US" sz="2100" spc="-63">
                <a:solidFill>
                  <a:srgbClr val="000000"/>
                </a:solidFill>
                <a:latin typeface="TT Fors"/>
                <a:ea typeface="TT Fors"/>
                <a:cs typeface="TT Fors"/>
                <a:sym typeface="TT Fors"/>
              </a:rPr>
              <a:t>La relation aux personnes</a:t>
            </a:r>
          </a:p>
          <a:p>
            <a:pPr algn="just">
              <a:lnSpc>
                <a:spcPts val="2940"/>
              </a:lnSpc>
            </a:pPr>
            <a:r>
              <a:rPr lang="en-US" sz="2100" spc="-63">
                <a:solidFill>
                  <a:srgbClr val="000000"/>
                </a:solidFill>
                <a:latin typeface="TT Fors"/>
                <a:ea typeface="TT Fors"/>
                <a:cs typeface="TT Fors"/>
                <a:sym typeface="TT Fors"/>
              </a:rPr>
              <a:t>La chaîne de sous-traitance</a:t>
            </a:r>
          </a:p>
          <a:p>
            <a:pPr algn="just">
              <a:lnSpc>
                <a:spcPts val="2940"/>
              </a:lnSpc>
            </a:pPr>
            <a:r>
              <a:rPr lang="en-US" sz="2100" spc="-63">
                <a:solidFill>
                  <a:srgbClr val="000000"/>
                </a:solidFill>
                <a:latin typeface="TT Fors"/>
                <a:ea typeface="TT Fors"/>
                <a:cs typeface="TT Fors"/>
                <a:sym typeface="TT Fors"/>
              </a:rPr>
              <a:t>La sécurité</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9583" y="-233292"/>
            <a:ext cx="21507167" cy="10753583"/>
            <a:chOff x="0" y="0"/>
            <a:chExt cx="28676222" cy="14338111"/>
          </a:xfrm>
        </p:grpSpPr>
        <p:sp>
          <p:nvSpPr>
            <p:cNvPr name="Freeform 3" id="3"/>
            <p:cNvSpPr/>
            <p:nvPr/>
          </p:nvSpPr>
          <p:spPr>
            <a:xfrm flipH="false" flipV="false" rot="0">
              <a:off x="0" y="0"/>
              <a:ext cx="7169056" cy="7169056"/>
            </a:xfrm>
            <a:custGeom>
              <a:avLst/>
              <a:gdLst/>
              <a:ahLst/>
              <a:cxnLst/>
              <a:rect r="r" b="b" t="t" l="l"/>
              <a:pathLst>
                <a:path h="7169056" w="7169056">
                  <a:moveTo>
                    <a:pt x="0" y="0"/>
                  </a:moveTo>
                  <a:lnTo>
                    <a:pt x="7169056" y="0"/>
                  </a:lnTo>
                  <a:lnTo>
                    <a:pt x="7169056"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169056"/>
              <a:ext cx="7169056" cy="7169056"/>
            </a:xfrm>
            <a:custGeom>
              <a:avLst/>
              <a:gdLst/>
              <a:ahLst/>
              <a:cxnLst/>
              <a:rect r="r" b="b" t="t" l="l"/>
              <a:pathLst>
                <a:path h="7169056" w="7169056">
                  <a:moveTo>
                    <a:pt x="0" y="0"/>
                  </a:moveTo>
                  <a:lnTo>
                    <a:pt x="7169056" y="0"/>
                  </a:lnTo>
                  <a:lnTo>
                    <a:pt x="7169056"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7169056" y="0"/>
              <a:ext cx="7169056" cy="7169056"/>
            </a:xfrm>
            <a:custGeom>
              <a:avLst/>
              <a:gdLst/>
              <a:ahLst/>
              <a:cxnLst/>
              <a:rect r="r" b="b" t="t" l="l"/>
              <a:pathLst>
                <a:path h="7169056" w="7169056">
                  <a:moveTo>
                    <a:pt x="0" y="0"/>
                  </a:moveTo>
                  <a:lnTo>
                    <a:pt x="7169055" y="0"/>
                  </a:lnTo>
                  <a:lnTo>
                    <a:pt x="7169055"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169056" y="7169056"/>
              <a:ext cx="7169056" cy="7169056"/>
            </a:xfrm>
            <a:custGeom>
              <a:avLst/>
              <a:gdLst/>
              <a:ahLst/>
              <a:cxnLst/>
              <a:rect r="r" b="b" t="t" l="l"/>
              <a:pathLst>
                <a:path h="7169056" w="7169056">
                  <a:moveTo>
                    <a:pt x="0" y="0"/>
                  </a:moveTo>
                  <a:lnTo>
                    <a:pt x="7169055" y="0"/>
                  </a:lnTo>
                  <a:lnTo>
                    <a:pt x="7169055"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338111" y="0"/>
              <a:ext cx="7169056" cy="7169056"/>
            </a:xfrm>
            <a:custGeom>
              <a:avLst/>
              <a:gdLst/>
              <a:ahLst/>
              <a:cxnLst/>
              <a:rect r="r" b="b" t="t" l="l"/>
              <a:pathLst>
                <a:path h="7169056" w="7169056">
                  <a:moveTo>
                    <a:pt x="0" y="0"/>
                  </a:moveTo>
                  <a:lnTo>
                    <a:pt x="7169056" y="0"/>
                  </a:lnTo>
                  <a:lnTo>
                    <a:pt x="7169056"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4338111" y="7169056"/>
              <a:ext cx="7169056" cy="7169056"/>
            </a:xfrm>
            <a:custGeom>
              <a:avLst/>
              <a:gdLst/>
              <a:ahLst/>
              <a:cxnLst/>
              <a:rect r="r" b="b" t="t" l="l"/>
              <a:pathLst>
                <a:path h="7169056" w="7169056">
                  <a:moveTo>
                    <a:pt x="0" y="0"/>
                  </a:moveTo>
                  <a:lnTo>
                    <a:pt x="7169056" y="0"/>
                  </a:lnTo>
                  <a:lnTo>
                    <a:pt x="7169056"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507167" y="0"/>
              <a:ext cx="7169056" cy="7169056"/>
            </a:xfrm>
            <a:custGeom>
              <a:avLst/>
              <a:gdLst/>
              <a:ahLst/>
              <a:cxnLst/>
              <a:rect r="r" b="b" t="t" l="l"/>
              <a:pathLst>
                <a:path h="7169056" w="7169056">
                  <a:moveTo>
                    <a:pt x="0" y="0"/>
                  </a:moveTo>
                  <a:lnTo>
                    <a:pt x="7169055" y="0"/>
                  </a:lnTo>
                  <a:lnTo>
                    <a:pt x="7169055" y="7169056"/>
                  </a:lnTo>
                  <a:lnTo>
                    <a:pt x="0" y="7169056"/>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1507167" y="7169056"/>
              <a:ext cx="7169056" cy="7169056"/>
            </a:xfrm>
            <a:custGeom>
              <a:avLst/>
              <a:gdLst/>
              <a:ahLst/>
              <a:cxnLst/>
              <a:rect r="r" b="b" t="t" l="l"/>
              <a:pathLst>
                <a:path h="7169056" w="7169056">
                  <a:moveTo>
                    <a:pt x="0" y="0"/>
                  </a:moveTo>
                  <a:lnTo>
                    <a:pt x="7169055" y="0"/>
                  </a:lnTo>
                  <a:lnTo>
                    <a:pt x="7169055" y="7169055"/>
                  </a:lnTo>
                  <a:lnTo>
                    <a:pt x="0" y="716905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15274457" y="574006"/>
            <a:ext cx="1984843" cy="579122"/>
            <a:chOff x="0" y="0"/>
            <a:chExt cx="1392868" cy="406400"/>
          </a:xfrm>
        </p:grpSpPr>
        <p:sp>
          <p:nvSpPr>
            <p:cNvPr name="Freeform 12" id="12"/>
            <p:cNvSpPr/>
            <p:nvPr/>
          </p:nvSpPr>
          <p:spPr>
            <a:xfrm flipH="false" flipV="false" rot="0">
              <a:off x="0" y="0"/>
              <a:ext cx="1392868" cy="406400"/>
            </a:xfrm>
            <a:custGeom>
              <a:avLst/>
              <a:gdLst/>
              <a:ahLst/>
              <a:cxnLst/>
              <a:rect r="r" b="b" t="t" l="l"/>
              <a:pathLst>
                <a:path h="406400" w="1392868">
                  <a:moveTo>
                    <a:pt x="1189668" y="0"/>
                  </a:moveTo>
                  <a:cubicBezTo>
                    <a:pt x="1301892" y="0"/>
                    <a:pt x="1392868" y="90976"/>
                    <a:pt x="1392868" y="203200"/>
                  </a:cubicBezTo>
                  <a:cubicBezTo>
                    <a:pt x="1392868" y="315424"/>
                    <a:pt x="1301892" y="406400"/>
                    <a:pt x="1189668" y="406400"/>
                  </a:cubicBezTo>
                  <a:lnTo>
                    <a:pt x="203200" y="406400"/>
                  </a:lnTo>
                  <a:cubicBezTo>
                    <a:pt x="90976" y="406400"/>
                    <a:pt x="0" y="315424"/>
                    <a:pt x="0" y="203200"/>
                  </a:cubicBezTo>
                  <a:cubicBezTo>
                    <a:pt x="0" y="90976"/>
                    <a:pt x="90976" y="0"/>
                    <a:pt x="203200" y="0"/>
                  </a:cubicBezTo>
                  <a:close/>
                </a:path>
              </a:pathLst>
            </a:custGeom>
            <a:solidFill>
              <a:srgbClr val="5284FF"/>
            </a:solidFill>
          </p:spPr>
        </p:sp>
        <p:sp>
          <p:nvSpPr>
            <p:cNvPr name="TextBox 13" id="13"/>
            <p:cNvSpPr txBox="true"/>
            <p:nvPr/>
          </p:nvSpPr>
          <p:spPr>
            <a:xfrm>
              <a:off x="0" y="-38100"/>
              <a:ext cx="1392868" cy="444500"/>
            </a:xfrm>
            <a:prstGeom prst="rect">
              <a:avLst/>
            </a:prstGeom>
          </p:spPr>
          <p:txBody>
            <a:bodyPr anchor="ctr" rtlCol="false" tIns="50800" lIns="50800" bIns="50800" rIns="50800"/>
            <a:lstStyle/>
            <a:p>
              <a:pPr algn="ctr">
                <a:lnSpc>
                  <a:spcPts val="2240"/>
                </a:lnSpc>
              </a:pPr>
            </a:p>
          </p:txBody>
        </p:sp>
      </p:grpSp>
      <p:sp>
        <p:nvSpPr>
          <p:cNvPr name="Freeform 14" id="14"/>
          <p:cNvSpPr/>
          <p:nvPr/>
        </p:nvSpPr>
        <p:spPr>
          <a:xfrm flipH="false" flipV="false" rot="0">
            <a:off x="16577728" y="729265"/>
            <a:ext cx="467394" cy="267690"/>
          </a:xfrm>
          <a:custGeom>
            <a:avLst/>
            <a:gdLst/>
            <a:ahLst/>
            <a:cxnLst/>
            <a:rect r="r" b="b" t="t" l="l"/>
            <a:pathLst>
              <a:path h="267690" w="467394">
                <a:moveTo>
                  <a:pt x="0" y="0"/>
                </a:moveTo>
                <a:lnTo>
                  <a:pt x="467395" y="0"/>
                </a:lnTo>
                <a:lnTo>
                  <a:pt x="467395" y="267689"/>
                </a:lnTo>
                <a:lnTo>
                  <a:pt x="0" y="2676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1208015" y="621268"/>
            <a:ext cx="13623689" cy="1244695"/>
          </a:xfrm>
          <a:prstGeom prst="rect">
            <a:avLst/>
          </a:prstGeom>
        </p:spPr>
        <p:txBody>
          <a:bodyPr anchor="t" rtlCol="false" tIns="0" lIns="0" bIns="0" rIns="0">
            <a:spAutoFit/>
          </a:bodyPr>
          <a:lstStyle/>
          <a:p>
            <a:pPr algn="l">
              <a:lnSpc>
                <a:spcPts val="9368"/>
              </a:lnSpc>
            </a:pPr>
            <a:r>
              <a:rPr lang="en-US" sz="9368" spc="-281" b="true">
                <a:solidFill>
                  <a:srgbClr val="5284FF"/>
                </a:solidFill>
                <a:latin typeface="Montserrat Bold"/>
                <a:ea typeface="Montserrat Bold"/>
                <a:cs typeface="Montserrat Bold"/>
                <a:sym typeface="Montserrat Bold"/>
              </a:rPr>
              <a:t>Les recommendations</a:t>
            </a:r>
          </a:p>
        </p:txBody>
      </p:sp>
      <p:sp>
        <p:nvSpPr>
          <p:cNvPr name="TextBox 16" id="16"/>
          <p:cNvSpPr txBox="true"/>
          <p:nvPr/>
        </p:nvSpPr>
        <p:spPr>
          <a:xfrm rot="0">
            <a:off x="15615098" y="707675"/>
            <a:ext cx="943167" cy="273649"/>
          </a:xfrm>
          <a:prstGeom prst="rect">
            <a:avLst/>
          </a:prstGeom>
        </p:spPr>
        <p:txBody>
          <a:bodyPr anchor="t" rtlCol="false" tIns="0" lIns="0" bIns="0" rIns="0">
            <a:spAutoFit/>
          </a:bodyPr>
          <a:lstStyle/>
          <a:p>
            <a:pPr algn="l">
              <a:lnSpc>
                <a:spcPts val="2240"/>
              </a:lnSpc>
            </a:pPr>
            <a:r>
              <a:rPr lang="en-US" sz="1600" b="true">
                <a:solidFill>
                  <a:srgbClr val="FFFFFF"/>
                </a:solidFill>
                <a:latin typeface="TT Fors Bold"/>
                <a:ea typeface="TT Fors Bold"/>
                <a:cs typeface="TT Fors Bold"/>
                <a:sym typeface="TT Fors Bold"/>
              </a:rPr>
              <a:t>Slide 07</a:t>
            </a:r>
          </a:p>
        </p:txBody>
      </p:sp>
      <p:sp>
        <p:nvSpPr>
          <p:cNvPr name="TextBox 17" id="17"/>
          <p:cNvSpPr txBox="true"/>
          <p:nvPr/>
        </p:nvSpPr>
        <p:spPr>
          <a:xfrm rot="0">
            <a:off x="943902" y="3004713"/>
            <a:ext cx="6906362" cy="6902467"/>
          </a:xfrm>
          <a:prstGeom prst="rect">
            <a:avLst/>
          </a:prstGeom>
        </p:spPr>
        <p:txBody>
          <a:bodyPr anchor="t" rtlCol="false" tIns="0" lIns="0" bIns="0" rIns="0">
            <a:spAutoFit/>
          </a:bodyPr>
          <a:lstStyle/>
          <a:p>
            <a:pPr algn="ctr">
              <a:lnSpc>
                <a:spcPts val="2673"/>
              </a:lnSpc>
              <a:spcBef>
                <a:spcPct val="0"/>
              </a:spcBef>
            </a:pPr>
            <a:r>
              <a:rPr lang="en-US" b="true" sz="1909" i="true">
                <a:solidFill>
                  <a:srgbClr val="000000"/>
                </a:solidFill>
                <a:latin typeface="TT Fors Bold Italics"/>
                <a:ea typeface="TT Fors Bold Italics"/>
                <a:cs typeface="TT Fors Bold Italics"/>
                <a:sym typeface="TT Fors Bold Italics"/>
              </a:rPr>
              <a:t>Les données que X-Corp traite sont nécessaires à son activités</a:t>
            </a:r>
          </a:p>
          <a:p>
            <a:pPr algn="ctr">
              <a:lnSpc>
                <a:spcPts val="2673"/>
              </a:lnSpc>
              <a:spcBef>
                <a:spcPct val="0"/>
              </a:spcBef>
            </a:pPr>
            <a:r>
              <a:rPr lang="en-US" sz="1909">
                <a:solidFill>
                  <a:srgbClr val="000000"/>
                </a:solidFill>
                <a:latin typeface="TT Fors"/>
                <a:ea typeface="TT Fors"/>
                <a:cs typeface="TT Fors"/>
                <a:sym typeface="TT Fors"/>
              </a:rPr>
              <a:t>-Dans chaques lignes on peut voir les informations que X-corp traite sont cohérentes avec leurs marchés</a:t>
            </a:r>
          </a:p>
          <a:p>
            <a:pPr algn="ctr">
              <a:lnSpc>
                <a:spcPts val="2673"/>
              </a:lnSpc>
              <a:spcBef>
                <a:spcPct val="0"/>
              </a:spcBef>
            </a:pPr>
          </a:p>
          <a:p>
            <a:pPr algn="ctr">
              <a:lnSpc>
                <a:spcPts val="2673"/>
              </a:lnSpc>
              <a:spcBef>
                <a:spcPct val="0"/>
              </a:spcBef>
            </a:pPr>
            <a:r>
              <a:rPr lang="en-US" b="true" sz="1909" i="true">
                <a:solidFill>
                  <a:srgbClr val="000000"/>
                </a:solidFill>
                <a:latin typeface="TT Fors Bold Italics"/>
                <a:ea typeface="TT Fors Bold Italics"/>
                <a:cs typeface="TT Fors Bold Italics"/>
                <a:sym typeface="TT Fors Bold Italics"/>
              </a:rPr>
              <a:t>X-Corp ne traite aucune donnée dite « sensible » ou, si c’est le cas, qu'elle a bien le droit de les traiter</a:t>
            </a:r>
          </a:p>
          <a:p>
            <a:pPr algn="ctr">
              <a:lnSpc>
                <a:spcPts val="2673"/>
              </a:lnSpc>
              <a:spcBef>
                <a:spcPct val="0"/>
              </a:spcBef>
            </a:pPr>
            <a:r>
              <a:rPr lang="en-US" sz="1909">
                <a:solidFill>
                  <a:srgbClr val="000000"/>
                </a:solidFill>
                <a:latin typeface="TT Fors"/>
                <a:ea typeface="TT Fors"/>
                <a:cs typeface="TT Fors"/>
                <a:sym typeface="TT Fors"/>
              </a:rPr>
              <a:t>-Le problème remonté par X-Corp sur Auto-Mail prose problème est doit être corrigé au plus vite</a:t>
            </a:r>
          </a:p>
          <a:p>
            <a:pPr algn="ctr">
              <a:lnSpc>
                <a:spcPts val="2673"/>
              </a:lnSpc>
              <a:spcBef>
                <a:spcPct val="0"/>
              </a:spcBef>
            </a:pPr>
          </a:p>
          <a:p>
            <a:pPr algn="ctr">
              <a:lnSpc>
                <a:spcPts val="2673"/>
              </a:lnSpc>
              <a:spcBef>
                <a:spcPct val="0"/>
              </a:spcBef>
            </a:pPr>
            <a:r>
              <a:rPr lang="en-US" b="true" sz="1909" i="true">
                <a:solidFill>
                  <a:srgbClr val="000000"/>
                </a:solidFill>
                <a:latin typeface="TT Fors Bold Italics"/>
                <a:ea typeface="TT Fors Bold Italics"/>
                <a:cs typeface="TT Fors Bold Italics"/>
                <a:sym typeface="TT Fors Bold Italics"/>
              </a:rPr>
              <a:t>seules les personnes habilitées ont accès aux données dont elles ont besoin </a:t>
            </a:r>
          </a:p>
          <a:p>
            <a:pPr algn="ctr">
              <a:lnSpc>
                <a:spcPts val="2673"/>
              </a:lnSpc>
              <a:spcBef>
                <a:spcPct val="0"/>
              </a:spcBef>
            </a:pPr>
            <a:r>
              <a:rPr lang="en-US" sz="1909">
                <a:solidFill>
                  <a:srgbClr val="000000"/>
                </a:solidFill>
                <a:latin typeface="TT Fors"/>
                <a:ea typeface="TT Fors"/>
                <a:cs typeface="TT Fors"/>
                <a:sym typeface="TT Fors"/>
              </a:rPr>
              <a:t>-Utilisation de RBAC cohérent</a:t>
            </a:r>
          </a:p>
          <a:p>
            <a:pPr algn="ctr">
              <a:lnSpc>
                <a:spcPts val="2673"/>
              </a:lnSpc>
              <a:spcBef>
                <a:spcPct val="0"/>
              </a:spcBef>
            </a:pPr>
          </a:p>
          <a:p>
            <a:pPr algn="ctr">
              <a:lnSpc>
                <a:spcPts val="2673"/>
              </a:lnSpc>
              <a:spcBef>
                <a:spcPct val="0"/>
              </a:spcBef>
            </a:pPr>
            <a:r>
              <a:rPr lang="en-US" b="true" sz="1909" i="true">
                <a:solidFill>
                  <a:srgbClr val="000000"/>
                </a:solidFill>
                <a:latin typeface="TT Fors Bold Italics"/>
                <a:ea typeface="TT Fors Bold Italics"/>
                <a:cs typeface="TT Fors Bold Italics"/>
                <a:sym typeface="TT Fors Bold Italics"/>
              </a:rPr>
              <a:t>X-Corp ne conserve pas vos données au-delà de ce qui est nécessaire.</a:t>
            </a:r>
          </a:p>
          <a:p>
            <a:pPr algn="ctr">
              <a:lnSpc>
                <a:spcPts val="2673"/>
              </a:lnSpc>
              <a:spcBef>
                <a:spcPct val="0"/>
              </a:spcBef>
            </a:pPr>
            <a:r>
              <a:rPr lang="en-US" b="true" sz="1909" i="true">
                <a:solidFill>
                  <a:srgbClr val="000000"/>
                </a:solidFill>
                <a:latin typeface="TT Fors Bold Italics"/>
                <a:ea typeface="TT Fors Bold Italics"/>
                <a:cs typeface="TT Fors Bold Italics"/>
                <a:sym typeface="TT Fors Bold Italics"/>
              </a:rPr>
              <a:t>-</a:t>
            </a:r>
            <a:r>
              <a:rPr lang="en-US" sz="1909">
                <a:solidFill>
                  <a:srgbClr val="000000"/>
                </a:solidFill>
                <a:latin typeface="TT Fors"/>
                <a:ea typeface="TT Fors"/>
                <a:cs typeface="TT Fors"/>
                <a:sym typeface="TT Fors"/>
              </a:rPr>
              <a:t>Des durées de conservation de 10 et 5 ans sont excessives, il faut obligatoirement les justifier. La politique de conservation des données doit être revue, beaucoup plus fréquemment, par exemple tous les semestres</a:t>
            </a:r>
          </a:p>
          <a:p>
            <a:pPr algn="ctr">
              <a:lnSpc>
                <a:spcPts val="2673"/>
              </a:lnSpc>
              <a:spcBef>
                <a:spcPct val="0"/>
              </a:spcBef>
            </a:pPr>
          </a:p>
        </p:txBody>
      </p:sp>
      <p:sp>
        <p:nvSpPr>
          <p:cNvPr name="TextBox 18" id="18"/>
          <p:cNvSpPr txBox="true"/>
          <p:nvPr/>
        </p:nvSpPr>
        <p:spPr>
          <a:xfrm rot="0">
            <a:off x="9309876" y="3576001"/>
            <a:ext cx="6824833" cy="5527860"/>
          </a:xfrm>
          <a:prstGeom prst="rect">
            <a:avLst/>
          </a:prstGeom>
        </p:spPr>
        <p:txBody>
          <a:bodyPr anchor="t" rtlCol="false" tIns="0" lIns="0" bIns="0" rIns="0">
            <a:spAutoFit/>
          </a:bodyPr>
          <a:lstStyle/>
          <a:p>
            <a:pPr algn="ctr">
              <a:lnSpc>
                <a:spcPts val="2641"/>
              </a:lnSpc>
              <a:spcBef>
                <a:spcPct val="0"/>
              </a:spcBef>
            </a:pPr>
            <a:r>
              <a:rPr lang="en-US" b="true" sz="1887" i="true">
                <a:solidFill>
                  <a:srgbClr val="000000"/>
                </a:solidFill>
                <a:latin typeface="TT Fors Bold Italics"/>
                <a:ea typeface="TT Fors Bold Italics"/>
                <a:cs typeface="TT Fors Bold Italics"/>
                <a:sym typeface="TT Fors Bold Italics"/>
              </a:rPr>
              <a:t>Les données que X-Corp traite sont nécessaires à son activités</a:t>
            </a:r>
          </a:p>
          <a:p>
            <a:pPr algn="ctr">
              <a:lnSpc>
                <a:spcPts val="2641"/>
              </a:lnSpc>
              <a:spcBef>
                <a:spcPct val="0"/>
              </a:spcBef>
            </a:pPr>
            <a:r>
              <a:rPr lang="en-US" sz="1887">
                <a:solidFill>
                  <a:srgbClr val="000000"/>
                </a:solidFill>
                <a:latin typeface="TT Fors"/>
                <a:ea typeface="TT Fors"/>
                <a:cs typeface="TT Fors"/>
                <a:sym typeface="TT Fors"/>
              </a:rPr>
              <a:t>-Dans chaques lignes on peut voir les informations que X-</a:t>
            </a:r>
          </a:p>
          <a:p>
            <a:pPr algn="ctr">
              <a:lnSpc>
                <a:spcPts val="2641"/>
              </a:lnSpc>
              <a:spcBef>
                <a:spcPct val="0"/>
              </a:spcBef>
            </a:pPr>
            <a:r>
              <a:rPr lang="en-US" b="true" sz="1887" i="true">
                <a:solidFill>
                  <a:srgbClr val="000000"/>
                </a:solidFill>
                <a:latin typeface="TT Fors Bold Italics"/>
                <a:ea typeface="TT Fors Bold Italics"/>
                <a:cs typeface="TT Fors Bold Italics"/>
                <a:sym typeface="TT Fors Bold Italics"/>
              </a:rPr>
              <a:t>-</a:t>
            </a:r>
            <a:r>
              <a:rPr lang="en-US" b="true" sz="1887" i="true">
                <a:solidFill>
                  <a:srgbClr val="000000"/>
                </a:solidFill>
                <a:latin typeface="TT Fors Bold Italics"/>
                <a:ea typeface="TT Fors Bold Italics"/>
                <a:cs typeface="TT Fors Bold Italics"/>
                <a:sym typeface="TT Fors Bold Italics"/>
              </a:rPr>
              <a:t>MarketInSight</a:t>
            </a:r>
          </a:p>
          <a:p>
            <a:pPr algn="ctr">
              <a:lnSpc>
                <a:spcPts val="2641"/>
              </a:lnSpc>
              <a:spcBef>
                <a:spcPct val="0"/>
              </a:spcBef>
            </a:pPr>
            <a:r>
              <a:rPr lang="en-US" sz="1887">
                <a:solidFill>
                  <a:srgbClr val="000000"/>
                </a:solidFill>
                <a:latin typeface="TT Fors"/>
                <a:ea typeface="TT Fors"/>
                <a:cs typeface="TT Fors"/>
                <a:sym typeface="TT Fors"/>
              </a:rPr>
              <a:t>Les données présentes dans le document ne nous permettent pas de conclure mais on peut soupçonner un manquement dans la clarté de l’utilisation des données personnelles des clients qu’il sous-traite. Point qui est fondamental dans un Audit RGPD. La gestion des consentements n’est pas claire pour l’utilisateur qui ne pense pas donner son consentement pour des mails marketing. </a:t>
            </a:r>
          </a:p>
          <a:p>
            <a:pPr algn="ctr">
              <a:lnSpc>
                <a:spcPts val="2641"/>
              </a:lnSpc>
              <a:spcBef>
                <a:spcPct val="0"/>
              </a:spcBef>
            </a:pPr>
          </a:p>
          <a:p>
            <a:pPr algn="ctr">
              <a:lnSpc>
                <a:spcPts val="2641"/>
              </a:lnSpc>
              <a:spcBef>
                <a:spcPct val="0"/>
              </a:spcBef>
            </a:pPr>
            <a:r>
              <a:rPr lang="en-US" b="true" sz="1887" i="true">
                <a:solidFill>
                  <a:srgbClr val="000000"/>
                </a:solidFill>
                <a:latin typeface="TT Fors Bold Italics"/>
                <a:ea typeface="TT Fors Bold Italics"/>
                <a:cs typeface="TT Fors Bold Italics"/>
                <a:sym typeface="TT Fors Bold Italics"/>
              </a:rPr>
              <a:t>-</a:t>
            </a:r>
            <a:r>
              <a:rPr lang="en-US" b="true" sz="1887" i="true">
                <a:solidFill>
                  <a:srgbClr val="000000"/>
                </a:solidFill>
                <a:latin typeface="TT Fors Bold Italics"/>
                <a:ea typeface="TT Fors Bold Italics"/>
                <a:cs typeface="TT Fors Bold Italics"/>
                <a:sym typeface="TT Fors Bold Italics"/>
              </a:rPr>
              <a:t>Fuite de donnée</a:t>
            </a:r>
          </a:p>
          <a:p>
            <a:pPr algn="ctr">
              <a:lnSpc>
                <a:spcPts val="2641"/>
              </a:lnSpc>
              <a:spcBef>
                <a:spcPct val="0"/>
              </a:spcBef>
            </a:pPr>
            <a:r>
              <a:rPr lang="en-US" sz="1887">
                <a:solidFill>
                  <a:srgbClr val="000000"/>
                </a:solidFill>
                <a:latin typeface="TT Fors"/>
                <a:ea typeface="TT Fors"/>
                <a:cs typeface="TT Fors"/>
                <a:sym typeface="TT Fors"/>
              </a:rPr>
              <a:t>Après la fuite de donnée, faire un RETEX, mettre en place des politiques de sécurité renforcée (mise en place d’un SIEM par exemple)</a:t>
            </a:r>
          </a:p>
          <a:p>
            <a:pPr algn="ctr">
              <a:lnSpc>
                <a:spcPts val="2641"/>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32099" y="2733288"/>
            <a:ext cx="4820425" cy="4820425"/>
          </a:xfrm>
          <a:custGeom>
            <a:avLst/>
            <a:gdLst/>
            <a:ahLst/>
            <a:cxnLst/>
            <a:rect r="r" b="b" t="t" l="l"/>
            <a:pathLst>
              <a:path h="4820425" w="4820425">
                <a:moveTo>
                  <a:pt x="0" y="0"/>
                </a:moveTo>
                <a:lnTo>
                  <a:pt x="4820425" y="0"/>
                </a:lnTo>
                <a:lnTo>
                  <a:pt x="4820425" y="4820424"/>
                </a:lnTo>
                <a:lnTo>
                  <a:pt x="0" y="48204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1731300" y="3086100"/>
            <a:ext cx="3209544" cy="4114800"/>
          </a:xfrm>
          <a:custGeom>
            <a:avLst/>
            <a:gdLst/>
            <a:ahLst/>
            <a:cxnLst/>
            <a:rect r="r" b="b" t="t" l="l"/>
            <a:pathLst>
              <a:path h="4114800" w="3209544">
                <a:moveTo>
                  <a:pt x="0" y="0"/>
                </a:moveTo>
                <a:lnTo>
                  <a:pt x="3209544" y="0"/>
                </a:lnTo>
                <a:lnTo>
                  <a:pt x="320954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7642550" y="4757729"/>
            <a:ext cx="3002900" cy="914418"/>
          </a:xfrm>
          <a:prstGeom prst="rect">
            <a:avLst/>
          </a:prstGeom>
        </p:spPr>
        <p:txBody>
          <a:bodyPr anchor="t" rtlCol="false" tIns="0" lIns="0" bIns="0" rIns="0">
            <a:spAutoFit/>
          </a:bodyPr>
          <a:lstStyle/>
          <a:p>
            <a:pPr algn="l" marL="0" indent="0" lvl="0">
              <a:lnSpc>
                <a:spcPts val="6299"/>
              </a:lnSpc>
              <a:spcBef>
                <a:spcPct val="0"/>
              </a:spcBef>
            </a:pPr>
            <a:r>
              <a:rPr lang="en-US" b="true" sz="6999" spc="293">
                <a:solidFill>
                  <a:srgbClr val="1A1C20"/>
                </a:solidFill>
                <a:latin typeface="Poppins Bold"/>
                <a:ea typeface="Poppins Bold"/>
                <a:cs typeface="Poppins Bold"/>
                <a:sym typeface="Poppins Bold"/>
              </a:rPr>
              <a:t>MERCI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DAHUO5OaqWs</dc:identifier>
  <dcterms:modified xsi:type="dcterms:W3CDTF">2011-08-01T06:04:30Z</dcterms:modified>
  <cp:revision>1</cp:revision>
  <dc:title>RGGay</dc:title>
</cp:coreProperties>
</file>